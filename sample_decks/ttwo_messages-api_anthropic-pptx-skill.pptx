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4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5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Net revenue ($M)</c:v>
                </c:pt>
              </c:strCache>
            </c:strRef>
          </c:tx>
          <c:spPr>
            <a:solidFill>
              <a:srgbClr val="0E1A40"/>
            </a:solidFill>
            <a:ln w="50800" cap="flat">
              <a:solidFill>
                <a:srgbClr val="0E1A4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E1A40"/>
                    </a:solidFill>
                    <a:latin typeface="Calibri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9"/>
            <c:spPr>
              <a:solidFill>
                <a:srgbClr val="0E1A40"/>
              </a:solidFill>
              <a:ln w="9525" cap="flat">
                <a:solidFill>
                  <a:srgbClr val="0E1A4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FY2017</c:v>
                  </c:pt>
                  <c:pt idx="1">
                    <c:v>FY2018</c:v>
                  </c:pt>
                  <c:pt idx="2">
                    <c:v>FY2019</c:v>
                  </c:pt>
                  <c:pt idx="3">
                    <c:v>FY2020</c:v>
                  </c:pt>
                  <c:pt idx="4">
                    <c:v>FY2021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1780</c:v>
                </c:pt>
                <c:pt idx="1">
                  <c:v>1793</c:v>
                </c:pt>
                <c:pt idx="2">
                  <c:v>2668</c:v>
                </c:pt>
                <c:pt idx="3">
                  <c:v>3089</c:v>
                </c:pt>
                <c:pt idx="4">
                  <c:v>3373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0E1A40"/>
                  </a:solidFill>
                  <a:latin typeface="Calibri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00"/>
          <c:min val="14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Gross margin</c:v>
                </c:pt>
              </c:strCache>
            </c:strRef>
          </c:tx>
          <c:spPr>
            <a:solidFill>
              <a:srgbClr val="0E1A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C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FY2019</c:v>
                  </c:pt>
                  <c:pt idx="1">
                    <c:v>FY2020</c:v>
                  </c:pt>
                  <c:pt idx="2">
                    <c:v>FY2021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42.9</c:v>
                </c:pt>
                <c:pt idx="1">
                  <c:v>50.1</c:v>
                </c:pt>
                <c:pt idx="2">
                  <c:v>54.5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Operating margin</c:v>
                </c:pt>
              </c:strCache>
            </c:strRef>
          </c:tx>
          <c:spPr>
            <a:solidFill>
              <a:srgbClr val="E8B3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C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FY2019</c:v>
                  </c:pt>
                  <c:pt idx="1">
                    <c:v>FY2020</c:v>
                  </c:pt>
                  <c:pt idx="2">
                    <c:v>FY2021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7.7</c:v>
                </c:pt>
                <c:pt idx="1">
                  <c:v>13.8</c:v>
                </c:pt>
                <c:pt idx="2">
                  <c:v>18.7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C2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Recurrent consumer spending</c:v>
                </c:pt>
              </c:strCache>
            </c:strRef>
          </c:tx>
          <c:spPr>
            <a:solidFill>
              <a:srgbClr val="E8B34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C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FY2020</c:v>
                  </c:pt>
                  <c:pt idx="1">
                    <c:v>FY2021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1385</c:v>
                </c:pt>
                <c:pt idx="1">
                  <c:v>2075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 game and other</c:v>
                </c:pt>
              </c:strCache>
            </c:strRef>
          </c:tx>
          <c:spPr>
            <a:solidFill>
              <a:srgbClr val="0E1A4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50" u="none">
                    <a:solidFill>
                      <a:srgbClr val="1C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FY2020</c:v>
                  </c:pt>
                  <c:pt idx="1">
                    <c:v>FY2021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1704</c:v>
                </c:pt>
                <c:pt idx="1">
                  <c:v>1298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50" u="none">
                  <a:solidFill>
                    <a:srgbClr val="1C2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0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5A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Platform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E1A40"/>
              </a:solidFill>
              <a:effectLst/>
            </c:spPr>
          </c:dPt>
          <c:dPt>
            <c:idx val="1"/>
            <c:bubble3D val="0"/>
            <c:spPr>
              <a:solidFill>
                <a:srgbClr val="E8B341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400" b="1" i="0" u="none" strike="noStrike">
                      <a:solidFill>
                        <a:srgbClr val="FFFFFF"/>
                      </a:solidFill>
                      <a:latin typeface="Calibri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Console</c:v>
                </c:pt>
                <c:pt idx="1">
                  <c:v>PC and other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2517</c:v>
                </c:pt>
                <c:pt idx="1">
                  <c:v>856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5A6B8C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Mobile net revenue ($M)</c:v>
                </c:pt>
              </c:strCache>
            </c:strRef>
          </c:tx>
          <c:spPr>
            <a:solidFill>
              <a:srgbClr val="AFC6F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C2540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AFC6F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8B34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Q2 FY2021</c:v>
                  </c:pt>
                  <c:pt idx="1">
                    <c:v>Q2 FY2022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</c:v>
                </c:pt>
                <c:pt idx="1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C2540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B8C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image" Target="../media/image-1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E1A4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4000"/>
          </a:blip>
          <a:stretch>
            <a:fillRect/>
          </a:stretch>
        </p:blipFill>
        <p:spPr>
          <a:xfrm>
            <a:off x="8869680" y="457200"/>
            <a:ext cx="2926080" cy="2926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alphaModFix amt="10000"/>
          </a:blip>
          <a:stretch>
            <a:fillRect/>
          </a:stretch>
        </p:blipFill>
        <p:spPr>
          <a:xfrm>
            <a:off x="365760" y="4206240"/>
            <a:ext cx="2194560" cy="21945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77240" y="1143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OVERVIEW</a:t>
            </a:r>
            <a:endParaRPr lang="en-US" sz="1400" dirty="0"/>
          </a:p>
        </p:txBody>
      </p:sp>
      <p:sp>
        <p:nvSpPr>
          <p:cNvPr id="6" name="Text 2"/>
          <p:cNvSpPr/>
          <p:nvPr/>
        </p:nvSpPr>
        <p:spPr>
          <a:xfrm>
            <a:off x="731520" y="155448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Financial Story of</a:t>
            </a:r>
            <a:endParaRPr lang="en-US" sz="48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Take-Two Interactive</a:t>
            </a:r>
            <a:endParaRPr lang="en-US" sz="4800" dirty="0"/>
          </a:p>
        </p:txBody>
      </p:sp>
      <p:sp>
        <p:nvSpPr>
          <p:cNvPr id="7" name="Text 3"/>
          <p:cNvSpPr/>
          <p:nvPr/>
        </p:nvSpPr>
        <p:spPr>
          <a:xfrm>
            <a:off x="777240" y="36118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400"/>
              </a:lnSpc>
              <a:buNone/>
            </a:pPr>
            <a:r>
              <a:rPr lang="en-US" sz="17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fiscal 2021 results and the first half of fiscal 2022</a:t>
            </a:r>
            <a:endParaRPr lang="en-US" sz="1700" dirty="0"/>
          </a:p>
          <a:p>
            <a:pPr indent="0" marL="0">
              <a:lnSpc>
                <a:spcPts val="2400"/>
              </a:lnSpc>
              <a:buNone/>
            </a:pPr>
            <a:r>
              <a:rPr lang="en-US" sz="170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publisher of owned, iconic franchises</a:t>
            </a:r>
            <a:endParaRPr lang="en-US" sz="1700" dirty="0"/>
          </a:p>
        </p:txBody>
      </p:sp>
      <p:sp>
        <p:nvSpPr>
          <p:cNvPr id="8" name="Shape 4"/>
          <p:cNvSpPr/>
          <p:nvPr/>
        </p:nvSpPr>
        <p:spPr>
          <a:xfrm>
            <a:off x="777240" y="4709160"/>
            <a:ext cx="5852160" cy="566928"/>
          </a:xfrm>
          <a:prstGeom prst="roundRect">
            <a:avLst>
              <a:gd name="adj" fmla="val 50000"/>
            </a:avLst>
          </a:prstGeom>
          <a:solidFill>
            <a:srgbClr val="1B2A57"/>
          </a:solidFill>
          <a:ln w="12700">
            <a:solidFill>
              <a:srgbClr val="2E3F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960120" y="47091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year ended March 31, 2021  ·  six months ended Sept 30, 2021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9601200" y="598932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NASDAQ: TTWO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for this overview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57400"/>
            <a:ext cx="566928" cy="566928"/>
          </a:xfrm>
          <a:prstGeom prst="ellipse">
            <a:avLst/>
          </a:prstGeom>
          <a:solidFill>
            <a:srgbClr val="FFF6E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6081" y="220480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covers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overview summarizes Take-Two's financial performance across revenue, profitability, revenue mix, and capital position.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draws on three lenses: the multi-year growth trend, the FY2021 record year in detail, and the early-FY2022 trajectory.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are as reported in SEC filings; net bookings is the company's key operational (non-GAAP) metric, shown alongside GAAP net revenue.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63640" y="1783080"/>
            <a:ext cx="5349240" cy="4160520"/>
          </a:xfrm>
          <a:prstGeom prst="roundRect">
            <a:avLst>
              <a:gd name="adj" fmla="val 1758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83680" y="2057400"/>
            <a:ext cx="566928" cy="566928"/>
          </a:xfrm>
          <a:prstGeom prst="ellipse">
            <a:avLst/>
          </a:prstGeom>
          <a:solidFill>
            <a:srgbClr val="1E2E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1081" y="2204801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103120"/>
            <a:ext cx="4251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Take-Two is built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2880360"/>
            <a:ext cx="4754880" cy="288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publishing labels: 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Rockstar Games, 2K, Private Division, Social Point, and Playdots.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 proprietary franchises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internally owned across action, sports, strategy, and mobile genres.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Theft Auto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the cornerstone IP — GTA V alone has sold over 155 million units since launch.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0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6,495 full-time employees</a:t>
            </a:r>
            <a:pPr algn="l" indent="0" marL="0">
              <a:lnSpc>
                <a:spcPts val="18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 of March 31, 2021, with 77% in product development.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Take-Two FY2021 Form 10-K; Q2 FY2022 earnings release &amp; Form 10-Q.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 2021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 2021 set company records across every headline metric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$3,373M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8" name="Shape 6"/>
          <p:cNvSpPr/>
          <p:nvPr/>
        </p:nvSpPr>
        <p:spPr>
          <a:xfrm>
            <a:off x="3465576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$589M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75304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5736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2512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$5.09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492240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EPS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62672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9448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9176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$3,553M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409176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79608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24528"/>
            <a:ext cx="548640" cy="548640"/>
          </a:xfrm>
          <a:prstGeom prst="ellipse">
            <a:avLst/>
          </a:prstGeom>
          <a:solidFill>
            <a:srgbClr val="FFF6E4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4367174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4224528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All-time highs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08760" y="4846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rose 9% year over year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a company record $3.37 billion.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grew 46% to $589 million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highest in company history.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the forward-looking demand metric — reached $3.55 billion, up 19%.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Consolidated Statements of Operations; FY2021 earnings release (Net Bookings).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has grown every year, up 26% over three years to a record $3.4B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revenue, fiscal years ended March 31 ($M)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2148840"/>
          <a:ext cx="69494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WHAT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0" y="2542032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straight years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top-line expansion, accelerating sharply from FY2019 onward.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FY2021's $3.37B is an all-time high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+9% over FY2020 and +26% over FY2019.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driven by the shift to recurrent consumer spending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(see next section).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 (FY2019–FY2021 exact); stockanalysis.com (FY2017–FY2018). Net revenue is GAAP; differs from net bookings.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PROFITABILITY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Margins expanded sharply: gross margin reached 54.5% and operating margin 18.7%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and operating margin, FY2019–FY2021 (% of net revenue)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210312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DROVE IT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0" y="2542032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climbed nearly 12 points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two years as higher-margin digital and recurrent revenue grew.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from operations more than tripled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from $207M (FY2019) to $629M (FY2021).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income margin reached 17.5%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FY2021, up from 12.5% in FY2019.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Statements of Operations. Margins computed on GAAP net revenue.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Recurrent consumer spending became the majority of revenue, flipping the model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by type, FY2020 vs FY2021 ($M)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731520" y="2103120"/>
          <a:ext cx="69494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8503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503920" y="2542032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grew 50% year over year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became the majority of revenue for the first time.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RCS reached 62% of net revenue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(63% of net bookings), up from 45% a year earlier.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 de-risks the model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revenue is increasingly recurring rather than tied to new-title launches.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type. RCS = recurrent consumer spending (in-game purchases, virtual currency, add-on content).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CHANNEL &amp; GEOGRAPHY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is overwhelmingly digital and led by the U.S., with 40% from abroad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by distribution channel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95728"/>
          <a:ext cx="4892040" cy="1554480"/>
        </p:xfrm>
        <a:graphic>
          <a:graphicData uri="http://schemas.openxmlformats.org/drawingml/2006/table">
            <a:tbl>
              <a:tblPr/>
              <a:tblGrid>
                <a:gridCol w="2468880"/>
                <a:gridCol w="132588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FY2021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2,919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86.6%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retail &amp; 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993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 revenue by geography</a:t>
            </a:r>
            <a:endParaRPr lang="en-US" sz="1400" dirty="0"/>
          </a:p>
        </p:txBody>
      </p:sp>
      <p:graphicFrame>
        <p:nvGraphicFramePr>
          <p:cNvPr id="1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395728"/>
          <a:ext cx="4892040" cy="1554480"/>
        </p:xfrm>
        <a:graphic>
          <a:graphicData uri="http://schemas.openxmlformats.org/drawingml/2006/table">
            <a:tbl>
              <a:tblPr/>
              <a:tblGrid>
                <a:gridCol w="1783080"/>
                <a:gridCol w="1051560"/>
                <a:gridCol w="105156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FY2021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Growth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2,016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3FA7A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1,357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5A6B8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delivery reached 86.6% of net revenue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(87% of net bookings), up from 63% just two years earlier.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 drove growth at +14%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international held 40% of revenue, with Asia ~7% of net bookings — a stated expansion opportunity.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distribution channel and by geography.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anchors the business while PC and mobile broaden the base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net revenue by platform ($M)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822960" y="2148840"/>
          <a:ext cx="67665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3154680" y="33832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$3,373M</a:t>
            </a:r>
            <a:endParaRPr lang="en-US" sz="20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8503920" y="2148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MIX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503920" y="2542032"/>
            <a:ext cx="288036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 delivered 75%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of FY2021 net revenue, led by the GTA and NBA 2K franchises.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 and other contributed $856M (25%)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including a growing mobile and PC-digital base.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13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 Theft Auto alone</a:t>
            </a:r>
            <a:pPr algn="l" indent="0" marL="0">
              <a:lnSpc>
                <a:spcPts val="1800"/>
              </a:lnSpc>
              <a:spcAft>
                <a:spcPts val="13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represented 29.2% of total net revenue.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net revenue by platform.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POSITION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fortress balance sheet: $2.7B in cash and investments funds the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$1,423M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658368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CASH &amp; EQUIVALENTS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8" name="Shape 6"/>
          <p:cNvSpPr/>
          <p:nvPr/>
        </p:nvSpPr>
        <p:spPr>
          <a:xfrm>
            <a:off x="3465576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$1,309M</a:t>
            </a:r>
            <a:endParaRPr lang="en-US" sz="3100" dirty="0"/>
          </a:p>
        </p:txBody>
      </p:sp>
      <p:sp>
        <p:nvSpPr>
          <p:cNvPr id="10" name="Text 8"/>
          <p:cNvSpPr/>
          <p:nvPr/>
        </p:nvSpPr>
        <p:spPr>
          <a:xfrm>
            <a:off x="3575304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INVESTMENTS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5736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2512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$912M</a:t>
            </a:r>
            <a:endParaRPr lang="en-US" sz="3100" dirty="0"/>
          </a:p>
        </p:txBody>
      </p:sp>
      <p:sp>
        <p:nvSpPr>
          <p:cNvPr id="14" name="Text 12"/>
          <p:cNvSpPr/>
          <p:nvPr/>
        </p:nvSpPr>
        <p:spPr>
          <a:xfrm>
            <a:off x="6492240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62672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9448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9176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1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$3,332M</a:t>
            </a:r>
            <a:endParaRPr lang="en-US" sz="3100" dirty="0"/>
          </a:p>
        </p:txBody>
      </p:sp>
      <p:sp>
        <p:nvSpPr>
          <p:cNvPr id="18" name="Text 16"/>
          <p:cNvSpPr/>
          <p:nvPr/>
        </p:nvSpPr>
        <p:spPr>
          <a:xfrm>
            <a:off x="9409176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STOCKHOLDERS' EQUITY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79608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24528"/>
            <a:ext cx="548640" cy="548640"/>
          </a:xfrm>
          <a:prstGeom prst="ellipse">
            <a:avLst/>
          </a:prstGeom>
          <a:solidFill>
            <a:srgbClr val="FFF6E4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4367174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4224528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Internally funded growth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08760" y="4846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 billion in cash and short-term investments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at fiscal year-end, against modest liabilities.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cash flow rose 33% to $912 million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funding development of the multi-year slate internally.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were $6.0 billion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$3.3 billion of equity — ample capacity for content investment and M&amp;A.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10-K, Balance Sheet and Statement of Cash Flows.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052560" y="640080"/>
            <a:ext cx="2743200" cy="27432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21031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5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TWO</a:t>
            </a:r>
            <a:endParaRPr lang="en-US" sz="1500" dirty="0"/>
          </a:p>
        </p:txBody>
      </p:sp>
      <p:sp>
        <p:nvSpPr>
          <p:cNvPr id="4" name="Text 1"/>
          <p:cNvSpPr/>
          <p:nvPr/>
        </p:nvSpPr>
        <p:spPr>
          <a:xfrm>
            <a:off x="731520" y="256032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half of fiscal 2022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77724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Investing through a transition year while recurrent spending deepens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4754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B8C"/>
                </a:solidFill>
              </a:rPr>
              <a:t>01    02    03    ●  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77240" y="4754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300" kern="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MONTHS ENDED SEPTEMBER 30, 2021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FY2022 RESULTS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FY2022 revenue held steady as the company invested for its largest-ever pipeline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58368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$858M</a:t>
            </a:r>
            <a:endParaRPr lang="en-US" sz="3300" dirty="0"/>
          </a:p>
        </p:txBody>
      </p:sp>
      <p:sp>
        <p:nvSpPr>
          <p:cNvPr id="6" name="Text 4"/>
          <p:cNvSpPr/>
          <p:nvPr/>
        </p:nvSpPr>
        <p:spPr>
          <a:xfrm>
            <a:off x="658368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NET REVENUE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828800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8" name="Shape 6"/>
          <p:cNvSpPr/>
          <p:nvPr/>
        </p:nvSpPr>
        <p:spPr>
          <a:xfrm>
            <a:off x="3465576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575304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$20M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3575304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OPERATING INCOME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45736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2" name="Shape 10"/>
          <p:cNvSpPr/>
          <p:nvPr/>
        </p:nvSpPr>
        <p:spPr>
          <a:xfrm>
            <a:off x="6382512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92240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$0.09</a:t>
            </a:r>
            <a:endParaRPr lang="en-US" sz="3300" dirty="0"/>
          </a:p>
        </p:txBody>
      </p:sp>
      <p:sp>
        <p:nvSpPr>
          <p:cNvPr id="14" name="Text 12"/>
          <p:cNvSpPr/>
          <p:nvPr/>
        </p:nvSpPr>
        <p:spPr>
          <a:xfrm>
            <a:off x="6492240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DILUTED EPS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662672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6" name="Shape 14"/>
          <p:cNvSpPr/>
          <p:nvPr/>
        </p:nvSpPr>
        <p:spPr>
          <a:xfrm>
            <a:off x="9299448" y="1874520"/>
            <a:ext cx="2670048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9176" y="2020824"/>
            <a:ext cx="2450592" cy="8458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3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$985M</a:t>
            </a:r>
            <a:endParaRPr lang="en-US" sz="3300" dirty="0"/>
          </a:p>
        </p:txBody>
      </p:sp>
      <p:sp>
        <p:nvSpPr>
          <p:cNvPr id="18" name="Text 16"/>
          <p:cNvSpPr/>
          <p:nvPr/>
        </p:nvSpPr>
        <p:spPr>
          <a:xfrm>
            <a:off x="9409176" y="2923337"/>
            <a:ext cx="245059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NET BOOKINGS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0579608" y="3108960"/>
            <a:ext cx="109728" cy="109728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3977640"/>
            <a:ext cx="110642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224528"/>
            <a:ext cx="548640" cy="548640"/>
          </a:xfrm>
          <a:prstGeom prst="ellipse">
            <a:avLst/>
          </a:prstGeom>
          <a:solidFill>
            <a:srgbClr val="FFF6E4"/>
          </a:solidFill>
          <a:ln/>
        </p:spPr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1326" y="4367174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1508760" y="4224528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deliberate investment quarter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1508760" y="4846320"/>
            <a:ext cx="9692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bookings grew 3% to $985M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recurrent consumer spending rose to 69% of net bookings.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income was $20M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(down from $115M a year earlier) as Take-Two stepped up investment in development.</a:t>
            </a:r>
            <a:endParaRPr lang="en-US" sz="1250" dirty="0"/>
          </a:p>
          <a:p>
            <a:pPr algn="l" marL="177800" indent="-177800">
              <a:lnSpc>
                <a:spcPts val="1600"/>
              </a:lnSpc>
              <a:spcAft>
                <a:spcPts val="500"/>
              </a:spcAft>
              <a:buSzPct val="100000"/>
              <a:buChar char="•"/>
            </a:pPr>
            <a:r>
              <a:rPr lang="en-US" sz="1250" b="1" dirty="0">
                <a:solidFill>
                  <a:srgbClr val="0E1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was 46.8%</a:t>
            </a:r>
            <a:pPr algn="l" indent="0" marL="0">
              <a:lnSpc>
                <a:spcPts val="1600"/>
              </a:lnSpc>
              <a:spcAft>
                <a:spcPts val="500"/>
              </a:spcAft>
              <a:buNone/>
            </a:pPr>
            <a:r>
              <a:rPr lang="en-US" sz="1250" dirty="0">
                <a:solidFill>
                  <a:srgbClr val="3342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the quarter reflects a deliberate build-up ahead of a record forward slate.</a:t>
            </a:r>
            <a:endParaRPr lang="en-US" sz="1250" dirty="0"/>
          </a:p>
        </p:txBody>
      </p:sp>
      <p:sp>
        <p:nvSpPr>
          <p:cNvPr id="25" name="Text 22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earnings release and Form 10-Q (quarter ended September 30, 2021).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MIX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Q2, digital and recurrent spending deepened across both geography and channel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993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net revenue by geography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2395728"/>
          <a:ext cx="489204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FY22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United States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International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828800"/>
            <a:ext cx="5349240" cy="2331720"/>
          </a:xfrm>
          <a:prstGeom prst="roundRect">
            <a:avLst>
              <a:gd name="adj" fmla="val 3137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92240" y="1993392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Q2 net revenue by channel</a:t>
            </a:r>
            <a:endParaRPr lang="en-US" sz="1400" dirty="0"/>
          </a:p>
        </p:txBody>
      </p:sp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2395728"/>
          <a:ext cx="4892040" cy="1554480"/>
        </p:xfrm>
        <a:graphic>
          <a:graphicData uri="http://schemas.openxmlformats.org/drawingml/2006/table">
            <a:tbl>
              <a:tblPr/>
              <a:tblGrid>
                <a:gridCol w="2377440"/>
                <a:gridCol w="141732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Channel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Q2 FY22 ($M)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1A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online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E8B3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&amp; other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1C25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9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4389120"/>
            <a:ext cx="11064240" cy="1371600"/>
          </a:xfrm>
          <a:prstGeom prst="roundRect">
            <a:avLst>
              <a:gd name="adj" fmla="val 5333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868680" y="4572000"/>
            <a:ext cx="10424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reached 91% of quarterly net revenue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(89% of net bookings) — the structural shift continues.</a:t>
            </a:r>
            <a:endParaRPr lang="en-US" sz="1300" dirty="0"/>
          </a:p>
          <a:p>
            <a:pPr algn="l" marL="177800" indent="-177800">
              <a:lnSpc>
                <a:spcPts val="18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U.S./international split held near 60/40</a:t>
            </a:r>
            <a:pPr algn="l" indent="0" marL="0">
              <a:lnSpc>
                <a:spcPts val="1800"/>
              </a:lnSpc>
              <a:spcAft>
                <a:spcPts val="800"/>
              </a:spcAft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consistent with the full-year FY2021 mix.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earnings release (quarter ended September 30, 2021).</a:t>
            </a:r>
            <a:endParaRPr lang="en-US" sz="850" dirty="0"/>
          </a:p>
        </p:txBody>
      </p:sp>
      <p:sp>
        <p:nvSpPr>
          <p:cNvPr id="13" name="Text 9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2500" b="1" dirty="0">
                <a:solidFill>
                  <a:srgbClr val="1C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Mobile net revenue nearly doubled, led by Social Point's live-service titles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 revenue, Q2 FY2021 vs Q2 FY2022 ($M)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731520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E2E9F5"/>
            </a:solidFill>
            <a:prstDash val="solid"/>
          </a:ln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graphicFrame>
        <p:nvGraphicFramePr>
          <p:cNvPr id="6" name="Chart 0" descr=""/>
          <p:cNvGraphicFramePr/>
          <p:nvPr/>
        </p:nvGraphicFramePr>
        <p:xfrm>
          <a:off x="1188720" y="2148840"/>
          <a:ext cx="603504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3291840" y="2240280"/>
            <a:ext cx="1554480" cy="594360"/>
          </a:xfrm>
          <a:prstGeom prst="roundRect">
            <a:avLst>
              <a:gd name="adj" fmla="val 49231"/>
            </a:avLst>
          </a:prstGeom>
          <a:solidFill>
            <a:srgbClr val="3FA7A0"/>
          </a:solidFill>
          <a:ln/>
        </p:spPr>
      </p:sp>
      <p:sp>
        <p:nvSpPr>
          <p:cNvPr id="8" name="Text 5"/>
          <p:cNvSpPr/>
          <p:nvPr/>
        </p:nvSpPr>
        <p:spPr>
          <a:xfrm>
            <a:off x="3291840" y="2240280"/>
            <a:ext cx="1554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+89% YoY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229600" y="1920240"/>
            <a:ext cx="3383280" cy="3977640"/>
          </a:xfrm>
          <a:prstGeom prst="roundRect">
            <a:avLst>
              <a:gd name="adj" fmla="val 2162"/>
            </a:avLst>
          </a:prstGeom>
          <a:solidFill>
            <a:srgbClr val="0E1A40"/>
          </a:solidFill>
          <a:ln/>
          <a:effectLst>
            <a:outerShdw sx="100000" sy="100000" kx="0" ky="0" algn="bl" rotWithShape="0" blurRad="114300" dist="38100" dir="5400000">
              <a:srgbClr val="0A13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503920" y="2121408"/>
            <a:ext cx="548640" cy="548640"/>
          </a:xfrm>
          <a:prstGeom prst="ellipse">
            <a:avLst/>
          </a:prstGeom>
          <a:solidFill>
            <a:srgbClr val="1E2E5C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46566" y="226405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144000" y="2212848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FASTEST GROWING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8503920" y="2880360"/>
            <a:ext cx="288036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net revenue grew 89% year over year</a:t>
            </a:r>
            <a:pPr algn="l"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fastest-growing platform in the quarter.</a:t>
            </a:r>
            <a:endParaRPr lang="en-US" sz="1250" dirty="0"/>
          </a:p>
          <a:p>
            <a:pPr algn="l"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led by Social Point's live-service mobile portfolio</a:t>
            </a:r>
            <a:pPr algn="l"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continued in-game spending.</a:t>
            </a:r>
            <a:endParaRPr lang="en-US" sz="1250" dirty="0"/>
          </a:p>
          <a:p>
            <a:pPr algn="l" marL="177800" indent="-177800">
              <a:lnSpc>
                <a:spcPts val="1700"/>
              </a:lnSpc>
              <a:spcAft>
                <a:spcPts val="1200"/>
              </a:spcAft>
              <a:buSzPct val="100000"/>
              <a:buChar char="•"/>
            </a:pPr>
            <a:r>
              <a:rPr lang="en-US" sz="125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deepens the recurrent-revenue mix</a:t>
            </a:r>
            <a:pPr algn="l" indent="0" marL="0">
              <a:lnSpc>
                <a:spcPts val="1700"/>
              </a:lnSpc>
              <a:spcAft>
                <a:spcPts val="1200"/>
              </a:spcAft>
              <a:buNone/>
            </a:pPr>
            <a:r>
              <a:rPr lang="en-US" sz="125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broadens reach beyond console and PC.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48640" y="6473952"/>
            <a:ext cx="9601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Q2 FY2022 Form 10-Q. Mobile is reported within "PC and other."</a:t>
            </a:r>
            <a:endParaRPr lang="en-US" sz="850" dirty="0"/>
          </a:p>
        </p:txBody>
      </p:sp>
      <p:sp>
        <p:nvSpPr>
          <p:cNvPr id="15" name="Text 11"/>
          <p:cNvSpPr/>
          <p:nvPr/>
        </p:nvSpPr>
        <p:spPr>
          <a:xfrm>
            <a:off x="9692640" y="6473952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 ·  Nasdaq: TTWO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11475720" y="25603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70000"/>
          </a:blip>
          <a:stretch>
            <a:fillRect/>
          </a:stretch>
        </p:blipFill>
        <p:spPr>
          <a:xfrm>
            <a:off x="777240" y="1371600"/>
            <a:ext cx="1188720" cy="118872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2651760"/>
            <a:ext cx="10332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6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are entering our strongest development pipeline ever.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960120" y="466344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Strauss Zelnick, </a:t>
            </a:r>
            <a:pPr indent="0" marL="0">
              <a:buNone/>
            </a:pPr>
            <a:r>
              <a:rPr lang="en-US" sz="17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Chairman &amp; CEO, on Take-Two's multi-year slate</a:t>
            </a:r>
            <a:endParaRPr lang="en-US" sz="1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A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9326880" y="6400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868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5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SUMMARY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2801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8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record year and a deliberate investment phase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777240" y="2606040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263869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51560" y="2862072"/>
            <a:ext cx="457200" cy="457200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691640" y="271576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FY2021 was a record year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revenue ($3.37B), net income ($589M), and margins, on a model now majority-recurrent.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77240" y="3703320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263869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51560" y="3959352"/>
            <a:ext cx="457200" cy="457200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1" name="Text 8"/>
          <p:cNvSpPr/>
          <p:nvPr/>
        </p:nvSpPr>
        <p:spPr>
          <a:xfrm>
            <a:off x="1051560" y="3959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1691640" y="381304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balance sheet funds growth internally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$2.7B in cash and investments and $912M of operating cash flow.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777240" y="4800600"/>
            <a:ext cx="10607040" cy="960120"/>
          </a:xfrm>
          <a:prstGeom prst="roundRect">
            <a:avLst>
              <a:gd name="adj" fmla="val 6667"/>
            </a:avLst>
          </a:prstGeom>
          <a:solidFill>
            <a:srgbClr val="16213E"/>
          </a:solidFill>
          <a:ln w="12700">
            <a:solidFill>
              <a:srgbClr val="26386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51560" y="5056632"/>
            <a:ext cx="457200" cy="457200"/>
          </a:xfrm>
          <a:prstGeom prst="ellipse">
            <a:avLst/>
          </a:prstGeom>
          <a:solidFill>
            <a:srgbClr val="E8B341"/>
          </a:solidFill>
          <a:ln/>
        </p:spPr>
      </p:sp>
      <p:sp>
        <p:nvSpPr>
          <p:cNvPr id="15" name="Text 12"/>
          <p:cNvSpPr/>
          <p:nvPr/>
        </p:nvSpPr>
        <p:spPr>
          <a:xfrm>
            <a:off x="1051560" y="50566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E1A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691640" y="4910328"/>
            <a:ext cx="94183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500" b="1" dirty="0">
                <a:solidFill>
                  <a:srgbClr val="F2C9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FY2022 is a deliberate investment phase  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AFC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ahead of the strongest pipeline in company history.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777240" y="61722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Take-Two Interactive Software, Inc.  ·  Nasdaq: TTWO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77724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190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FY2021 10-K; Q2 FY2022 earnings release.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Take-Two Interactive — Financial Overview</dc:title>
  <dc:subject>PptxGenJS Presentation</dc:subject>
  <dc:creator>Take-Two Financial Overview</dc:creator>
  <cp:lastModifiedBy>Take-Two Financial Overview</cp:lastModifiedBy>
  <cp:revision>1</cp:revision>
  <dcterms:created xsi:type="dcterms:W3CDTF">2026-06-26T01:08:42Z</dcterms:created>
  <dcterms:modified xsi:type="dcterms:W3CDTF">2026-06-26T01:08:42Z</dcterms:modified>
</cp:coreProperties>
</file>