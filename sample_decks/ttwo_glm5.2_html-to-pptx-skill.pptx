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0">
            <a:gsLst>
              <a:gs pos="0">
                <a:srgbClr val="B8893A"/>
              </a:gs>
              <a:gs pos="50000">
                <a:srgbClr val="8A6526"/>
              </a:gs>
              <a:gs pos="100000">
                <a:srgbClr val="3A2A12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0">
            <a:gsLst>
              <a:gs pos="0">
                <a:srgbClr val="B8893A">
                  <a:alpha val="6000"/>
                </a:srgbClr>
              </a:gs>
              <a:gs pos="33333">
                <a:srgbClr val="000000">
                  <a:alpha val="0"/>
                </a:srgbClr>
              </a:gs>
              <a:gs pos="66666">
                <a:srgbClr val="B8893A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8977" y="2034678"/>
            <a:ext cx="10413739" cy="1904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99" b="1" i="0">
                <a:solidFill>
                  <a:srgbClr val="B8893A"/>
                </a:solidFill>
                <a:latin typeface="Helvetica Neue"/>
              </a:rPr>
              <a:t>FINANCIAL OVERVIEW · FISCAL 2021 &amp; H1 FY2022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977" y="2345828"/>
            <a:ext cx="9524761" cy="1347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5199" b="1" i="0">
                <a:solidFill>
                  <a:srgbClr val="FBF6E9"/>
                </a:solidFill>
                <a:latin typeface="Georgia"/>
              </a:rPr>
              <a:t>The Financial Story of </a:t>
            </a:r>
            <a:r>
              <a:rPr sz="5199" b="1" i="1">
                <a:solidFill>
                  <a:srgbClr val="B8893A"/>
                </a:solidFill>
                <a:latin typeface="Georgia"/>
              </a:rPr>
              <a:t>Take-Two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977" y="3908921"/>
            <a:ext cx="8127796" cy="5524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99" b="0" i="0">
                <a:solidFill>
                  <a:srgbClr val="E7DCC3"/>
                </a:solidFill>
                <a:latin typeface="Helvetica Neue"/>
              </a:rPr>
              <a:t>Record fiscal 2021 results and the first half of fiscal 2022 — a publisher of owned, iconic franchises (Nasdaq: TTWO).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977" y="4651871"/>
            <a:ext cx="10413739" cy="2095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99" b="0" i="0">
                <a:solidFill>
                  <a:srgbClr val="B9A983"/>
                </a:solidFill>
                <a:latin typeface="Helvetica Neue"/>
              </a:rPr>
              <a:t>Fiscal year ended March 31, 2021, and the six months ended September 30, 2021.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8977" y="6153149"/>
            <a:ext cx="10413739" cy="323849"/>
          </a:xfrm>
          <a:prstGeom prst="rect">
            <a:avLst/>
          </a:prstGeom>
          <a:noFill/>
          <a:ln w="6350">
            <a:solidFill>
              <a:srgbClr val="B8893A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977" y="6286500"/>
            <a:ext cx="6635385" cy="24764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99" b="0" i="0">
                <a:solidFill>
                  <a:srgbClr val="F4EDDD"/>
                </a:solidFill>
                <a:latin typeface="Georgia"/>
              </a:rPr>
              <a:t>Sources: Take-Two </a:t>
            </a:r>
            <a:r>
              <a:rPr sz="1299" b="1" i="0">
                <a:solidFill>
                  <a:srgbClr val="B8893A"/>
                </a:solidFill>
                <a:latin typeface="Georgia"/>
              </a:rPr>
              <a:t>FY2021 Form 10-K</a:t>
            </a:r>
            <a:r>
              <a:rPr sz="1299" b="0" i="0">
                <a:solidFill>
                  <a:srgbClr val="F4EDDD"/>
                </a:solidFill>
                <a:latin typeface="Georgia"/>
              </a:rPr>
              <a:t> · </a:t>
            </a:r>
            <a:r>
              <a:rPr sz="1299" b="1" i="0">
                <a:solidFill>
                  <a:srgbClr val="B8893A"/>
                </a:solidFill>
                <a:latin typeface="Georgia"/>
              </a:rPr>
              <a:t>Q2 FY2022 earnings release &amp; Form 10-Q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6825" y="6362700"/>
            <a:ext cx="78589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8A7A55"/>
                </a:solidFill>
                <a:latin typeface="Helvetica Neue"/>
              </a:rPr>
              <a:t>01 · 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0">
            <a:gsLst>
              <a:gs pos="0">
                <a:srgbClr val="B8893A"/>
              </a:gs>
              <a:gs pos="50000">
                <a:srgbClr val="8A6526"/>
              </a:gs>
              <a:gs pos="100000">
                <a:srgbClr val="0E1B2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7987" y="380999"/>
            <a:ext cx="953369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02 ·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54913" y="380999"/>
            <a:ext cx="2228794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TAKE-TWO INTERACTIVE · TTWO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87" y="761999"/>
            <a:ext cx="9524761" cy="1714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1" i="0">
                <a:solidFill>
                  <a:srgbClr val="8A6526"/>
                </a:solidFill>
                <a:latin typeface="Helvetica Neue"/>
              </a:rPr>
              <a:t>CONTEXT FOR THIS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87" y="908049"/>
            <a:ext cx="9524761" cy="6891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99" b="1" i="0">
                <a:solidFill>
                  <a:srgbClr val="0E1B2C"/>
                </a:solidFill>
                <a:latin typeface="Georgia"/>
              </a:rPr>
              <a:t>A snapshot of Take-Two's performance, structure, and franchises — drawn from three lenses across SEC filings.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987" y="1902023"/>
            <a:ext cx="5397365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8A6526"/>
                </a:solidFill>
                <a:latin typeface="Helvetica Neue"/>
              </a:rPr>
              <a:t>WHAT THIS COVERS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987" y="2105223"/>
            <a:ext cx="5397365" cy="1754385"/>
          </a:xfrm>
          <a:prstGeom prst="roundRect">
            <a:avLst>
              <a:gd name="adj" fmla="val 3619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878" y="2302073"/>
            <a:ext cx="4844928" cy="3625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2A3B52"/>
                </a:solidFill>
                <a:latin typeface="Helvetica Neue"/>
              </a:rPr>
              <a:t>This overview summarizes Take-Two's financial performance across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revenue, profitability, revenue mix, and capital position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532" y="2302073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878" y="2804318"/>
            <a:ext cx="4844928" cy="3625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2A3B52"/>
                </a:solidFill>
                <a:latin typeface="Helvetica Neue"/>
              </a:rPr>
              <a:t>It draws on three lenses: the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multi-year growth trend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, the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FY2021 record year in detail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, and the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early-FY2022 trajectory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532" y="2804318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878" y="3306564"/>
            <a:ext cx="4844928" cy="3561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2A3B52"/>
                </a:solidFill>
                <a:latin typeface="Helvetica Neue"/>
              </a:rPr>
              <a:t>All figures are as reported in SEC filings;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net bookings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is the company's key operational (non-GAAP) metric and is shown alongside GAAP net revenue.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532" y="3306564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6342" y="1902023"/>
            <a:ext cx="5397365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8A6526"/>
                </a:solidFill>
                <a:latin typeface="Helvetica Neue"/>
              </a:rPr>
              <a:t>HOW TAKE-TWO IS BUILT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342" y="2105223"/>
            <a:ext cx="5397365" cy="1887735"/>
          </a:xfrm>
          <a:prstGeom prst="roundRect">
            <a:avLst>
              <a:gd name="adj" fmla="val 3363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234" y="2302073"/>
            <a:ext cx="4830443" cy="1812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1" i="0">
                <a:solidFill>
                  <a:srgbClr val="0E1B2C"/>
                </a:solidFill>
                <a:latin typeface="Helvetica Neue"/>
              </a:rPr>
              <a:t>Five publishing labels: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Rockstar Games, 2K, Private Division, Social Point, and Playdots.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5887" y="2302073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234" y="2623046"/>
            <a:ext cx="4844928" cy="3561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1" i="0">
                <a:solidFill>
                  <a:srgbClr val="0E1B2C"/>
                </a:solidFill>
                <a:latin typeface="Helvetica Neue"/>
              </a:rPr>
              <a:t>27 proprietary franchises,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internally owned across action, sports, strategy, and mobile genres.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5887" y="2623046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234" y="3118941"/>
            <a:ext cx="4844928" cy="3561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1" i="0">
                <a:solidFill>
                  <a:srgbClr val="0E1B2C"/>
                </a:solidFill>
                <a:latin typeface="Helvetica Neue"/>
              </a:rPr>
              <a:t>Grand Theft Auto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is the cornerstone IP — GTA V alone has sold in over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155 million units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since launch.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5887" y="3118941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234" y="3614836"/>
            <a:ext cx="4651754" cy="1812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1" i="0">
                <a:solidFill>
                  <a:srgbClr val="0E1B2C"/>
                </a:solidFill>
                <a:latin typeface="Helvetica Neue"/>
              </a:rPr>
              <a:t>6,495 full-time employees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as of March 31, 2021, with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77% in product development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5887" y="3614836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987" y="6113859"/>
            <a:ext cx="11175720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¹ Net bookings is a non-GAAP measure defined as the net amount of products and services sold digitally or physically in the period. ² Headcount figure as of March 31, 2021 per FY2021 10-K.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987" y="6302375"/>
            <a:ext cx="11175720" cy="212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Source: Take-Two FY2021 Form 10-K; Q2 FY2022 earnings release &amp; Form 10-Q.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987" y="6597650"/>
            <a:ext cx="2860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E1B2C"/>
                </a:solidFill>
                <a:latin typeface="Helvetica Neue"/>
              </a:rPr>
              <a:t>TAKE-TWO INTERACTIVE</a:t>
            </a:r>
            <a:r>
              <a:rPr sz="800" b="1" i="0">
                <a:solidFill>
                  <a:srgbClr val="5A6B7E"/>
                </a:solidFill>
                <a:latin typeface="Helvetica Neue"/>
              </a:rPr>
              <a:t> · FINANCIAL 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9103" y="6597650"/>
            <a:ext cx="404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0">
            <a:gsLst>
              <a:gs pos="0">
                <a:srgbClr val="B8893A"/>
              </a:gs>
              <a:gs pos="50000">
                <a:srgbClr val="8A6526"/>
              </a:gs>
              <a:gs pos="100000">
                <a:srgbClr val="0E1B2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7987" y="380999"/>
            <a:ext cx="1382677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03 · HEADLINE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78983" y="380999"/>
            <a:ext cx="2604724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FISCAL YEAR ENDED MARCH 31, 2021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87" y="761999"/>
            <a:ext cx="9524761" cy="1714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1" i="0">
                <a:solidFill>
                  <a:srgbClr val="8A6526"/>
                </a:solidFill>
                <a:latin typeface="Helvetica Neue"/>
              </a:rPr>
              <a:t>FISCAL 2021 HEADLINE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87" y="908049"/>
            <a:ext cx="9524761" cy="6891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99" b="1" i="0">
                <a:solidFill>
                  <a:srgbClr val="0E1B2C"/>
                </a:solidFill>
                <a:latin typeface="Georgia"/>
              </a:rPr>
              <a:t>Fiscal 2021 set company records across every headline metric — revenue, earnings, and bookings.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987" y="1876623"/>
            <a:ext cx="2679633" cy="1135955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132" y="2073473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NET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132" y="2251273"/>
            <a:ext cx="2311342" cy="5524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99" b="1" i="0">
                <a:solidFill>
                  <a:srgbClr val="0E1B2C"/>
                </a:solidFill>
                <a:latin typeface="Georgia"/>
              </a:rPr>
              <a:t>$3,373</a:t>
            </a:r>
            <a:r>
              <a:rPr sz="1299" b="1" i="0">
                <a:solidFill>
                  <a:srgbClr val="2A3B52"/>
                </a:solidFill>
                <a:latin typeface="Georgia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132" y="2688728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3A7D5C"/>
                </a:solidFill>
                <a:latin typeface="Helvetica Neue"/>
              </a:rPr>
              <a:t>▲ 9% YoY · company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987" y="1876623"/>
            <a:ext cx="38099" cy="1123257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40016" y="1876623"/>
            <a:ext cx="2679633" cy="1135955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4161" y="2073473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NET INCOME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4161" y="2251273"/>
            <a:ext cx="2311342" cy="5524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99" b="1" i="0">
                <a:solidFill>
                  <a:srgbClr val="0E1B2C"/>
                </a:solidFill>
                <a:latin typeface="Georgia"/>
              </a:rPr>
              <a:t>$589</a:t>
            </a:r>
            <a:r>
              <a:rPr sz="1299" b="1" i="0">
                <a:solidFill>
                  <a:srgbClr val="2A3B52"/>
                </a:solidFill>
                <a:latin typeface="Georgia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4161" y="2688728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3A7D5C"/>
                </a:solidFill>
                <a:latin typeface="Helvetica Neue"/>
              </a:rPr>
              <a:t>▲ 46% YoY · highest ever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0016" y="1876623"/>
            <a:ext cx="38099" cy="1123257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045" y="1876623"/>
            <a:ext cx="2679633" cy="1135955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6191" y="2073473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DILUTED 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6191" y="2251273"/>
            <a:ext cx="2311342" cy="5524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99" b="1" i="0">
                <a:solidFill>
                  <a:srgbClr val="0E1B2C"/>
                </a:solidFill>
                <a:latin typeface="Georgia"/>
              </a:rPr>
              <a:t>$5.09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6191" y="2688728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3A7D5C"/>
                </a:solidFill>
                <a:latin typeface="Helvetica Neue"/>
              </a:rPr>
              <a:t>▲ vs. prior year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045" y="1876623"/>
            <a:ext cx="38099" cy="1123257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04074" y="1876623"/>
            <a:ext cx="2679633" cy="1135955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8220" y="2073473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NET BOOKINGS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8220" y="2251273"/>
            <a:ext cx="2311342" cy="5524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99" b="1" i="0">
                <a:solidFill>
                  <a:srgbClr val="0E1B2C"/>
                </a:solidFill>
                <a:latin typeface="Georgia"/>
              </a:rPr>
              <a:t>$3,553</a:t>
            </a:r>
            <a:r>
              <a:rPr sz="1299" b="1" i="0">
                <a:solidFill>
                  <a:srgbClr val="2A3B52"/>
                </a:solidFill>
                <a:latin typeface="Georgia"/>
              </a:rPr>
              <a:t>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8220" y="2688728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3A7D5C"/>
                </a:solidFill>
                <a:latin typeface="Helvetica Neue"/>
              </a:rPr>
              <a:t>▲ 19% YoY · non-GAAP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4074" y="1876623"/>
            <a:ext cx="38099" cy="1123257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7987" y="3228478"/>
            <a:ext cx="3623576" cy="629840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987" y="3228478"/>
            <a:ext cx="38099" cy="629840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7987" y="3228478"/>
            <a:ext cx="3623576" cy="629840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/>
            <a:r>
              <a:rPr sz="899" b="1" i="0">
                <a:solidFill>
                  <a:srgbClr val="0E1B2C"/>
                </a:solidFill>
                <a:latin typeface="Helvetica Neue"/>
              </a:rPr>
              <a:t>Net revenue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 rose 9% year over year to a company record $3.37 billion.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3960" y="3228478"/>
            <a:ext cx="3623675" cy="629840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83960" y="3228478"/>
            <a:ext cx="38099" cy="629840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83960" y="3228478"/>
            <a:ext cx="3623675" cy="629840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/>
            <a:r>
              <a:rPr sz="899" b="1" i="0">
                <a:solidFill>
                  <a:srgbClr val="0E1B2C"/>
                </a:solidFill>
                <a:latin typeface="Helvetica Neue"/>
              </a:rPr>
              <a:t>Net income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 grew 46% to $589 million, the highest in company history.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0032" y="3228478"/>
            <a:ext cx="3623675" cy="629840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0032" y="3228478"/>
            <a:ext cx="38099" cy="629840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60032" y="3228478"/>
            <a:ext cx="3623675" cy="629840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/>
            <a:r>
              <a:rPr sz="899" b="1" i="0">
                <a:solidFill>
                  <a:srgbClr val="0E1B2C"/>
                </a:solidFill>
                <a:latin typeface="Helvetica Neue"/>
              </a:rPr>
              <a:t>Net bookings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 — the forward-looking demand metric — reached $3.55 billion, up 19%.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987" y="6113859"/>
            <a:ext cx="11175720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¹ Net bookings is a non-GAAP operational metric; GAAP net revenue is the headline reported figure. ² All FY2021 figures are audited per the Consolidated Statements of Operations.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987" y="6302375"/>
            <a:ext cx="11175720" cy="212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Source: FY2021 10-K, Consolidated Statements of Operations; FY2021 earnings release (Net Bookings).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987" y="6597650"/>
            <a:ext cx="2860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E1B2C"/>
                </a:solidFill>
                <a:latin typeface="Helvetica Neue"/>
              </a:rPr>
              <a:t>TAKE-TWO INTERACTIVE</a:t>
            </a:r>
            <a:r>
              <a:rPr sz="800" b="1" i="0">
                <a:solidFill>
                  <a:srgbClr val="5A6B7E"/>
                </a:solidFill>
                <a:latin typeface="Helvetica Neue"/>
              </a:rPr>
              <a:t> · FINANCIAL OVERVIEW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9103" y="6597650"/>
            <a:ext cx="404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0">
            <a:gsLst>
              <a:gs pos="0">
                <a:srgbClr val="B8893A"/>
              </a:gs>
              <a:gs pos="50000">
                <a:srgbClr val="8A6526"/>
              </a:gs>
              <a:gs pos="100000">
                <a:srgbClr val="0E1B2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7987" y="380999"/>
            <a:ext cx="146562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04 · REVENUE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33196" y="380999"/>
            <a:ext cx="1150511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FY2017 – FY2021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87" y="761999"/>
            <a:ext cx="9524761" cy="1714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1" i="0">
                <a:solidFill>
                  <a:srgbClr val="8A6526"/>
                </a:solidFill>
                <a:latin typeface="Helvetica Neue"/>
              </a:rPr>
              <a:t>TOP-LINE TRAJECTORY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87" y="908049"/>
            <a:ext cx="9524761" cy="6891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99" b="1" i="0">
                <a:solidFill>
                  <a:srgbClr val="0E1B2C"/>
                </a:solidFill>
                <a:latin typeface="Georgia"/>
              </a:rPr>
              <a:t>Net revenue has grown every year, up 26% over three years to a record $3.4B.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987" y="1686123"/>
            <a:ext cx="9524761" cy="2000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49" b="0" i="1">
                <a:solidFill>
                  <a:srgbClr val="5A6B7E"/>
                </a:solidFill>
                <a:latin typeface="Helvetica Neue"/>
              </a:rPr>
              <a:t>Net revenue, fiscal years ended March 31 ($M)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987" y="2060773"/>
            <a:ext cx="6857828" cy="3460749"/>
          </a:xfrm>
          <a:prstGeom prst="roundRect">
            <a:avLst>
              <a:gd name="adj" fmla="val 1834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mptgopykz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32" y="2219523"/>
            <a:ext cx="6489537" cy="292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132" y="5248473"/>
            <a:ext cx="1226114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Net revenue (GAAP, $M)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3307" y="2098873"/>
            <a:ext cx="4000399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8A6526"/>
                </a:solidFill>
                <a:latin typeface="Helvetica Neue"/>
              </a:rPr>
              <a:t>SO 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6654" y="2302073"/>
            <a:ext cx="3867053" cy="3561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1" i="0">
                <a:solidFill>
                  <a:srgbClr val="0E1B2C"/>
                </a:solidFill>
                <a:latin typeface="Helvetica Neue"/>
              </a:rPr>
              <a:t>Five straight years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of top-line expansion, accelerating sharply from FY2019 onward.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3307" y="2302073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6654" y="2759868"/>
            <a:ext cx="3867053" cy="3561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2A3B52"/>
                </a:solidFill>
                <a:latin typeface="Helvetica Neue"/>
              </a:rPr>
              <a:t>FY2021's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$3.37B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is an all-time high,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+9%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over FY2020 and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+26%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over FY2019.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3307" y="2759868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6654" y="3217664"/>
            <a:ext cx="3867053" cy="3561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2A3B52"/>
                </a:solidFill>
                <a:latin typeface="Helvetica Neue"/>
              </a:rPr>
              <a:t>Growth has been driven by the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shift to recurrent consumer spending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(see next section).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3307" y="3217664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987" y="6113859"/>
            <a:ext cx="11175720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¹ Net revenue is GAAP and differs from net bookings (non-GAAP). ² FY2017–FY2018 are sourced from stockanalysis.com; FY2019–FY2021 are exact figures from the 10-K.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987" y="6302375"/>
            <a:ext cx="11175720" cy="212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Source: FY2021 10-K (FY2019–FY2021 exact); stockanalysis.com (FY2017–FY2018). Note: net revenue is GAAP; differs from net bookings.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987" y="6597650"/>
            <a:ext cx="2860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E1B2C"/>
                </a:solidFill>
                <a:latin typeface="Helvetica Neue"/>
              </a:rPr>
              <a:t>TAKE-TWO INTERACTIVE</a:t>
            </a:r>
            <a:r>
              <a:rPr sz="800" b="1" i="0">
                <a:solidFill>
                  <a:srgbClr val="5A6B7E"/>
                </a:solidFill>
                <a:latin typeface="Helvetica Neue"/>
              </a:rPr>
              <a:t> · FINANCIAL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9103" y="6597650"/>
            <a:ext cx="404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0">
            <a:gsLst>
              <a:gs pos="0">
                <a:srgbClr val="B8893A"/>
              </a:gs>
              <a:gs pos="50000">
                <a:srgbClr val="8A6526"/>
              </a:gs>
              <a:gs pos="100000">
                <a:srgbClr val="0E1B2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7987" y="380999"/>
            <a:ext cx="135430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05 ·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33196" y="380999"/>
            <a:ext cx="1150511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FY2019 – FY2021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87" y="761999"/>
            <a:ext cx="9524761" cy="1714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1" i="0">
                <a:solidFill>
                  <a:srgbClr val="8A6526"/>
                </a:solidFill>
                <a:latin typeface="Helvetica Neue"/>
              </a:rPr>
              <a:t>MARGIN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87" y="908049"/>
            <a:ext cx="9524761" cy="6891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99" b="1" i="0">
                <a:solidFill>
                  <a:srgbClr val="0E1B2C"/>
                </a:solidFill>
                <a:latin typeface="Georgia"/>
              </a:rPr>
              <a:t>Margins expanded sharply: gross margin reached 54.5% and operating margin 18.7%.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987" y="1686123"/>
            <a:ext cx="9524761" cy="2000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49" b="0" i="1">
                <a:solidFill>
                  <a:srgbClr val="5A6B7E"/>
                </a:solidFill>
                <a:latin typeface="Helvetica Neue"/>
              </a:rPr>
              <a:t>Gross margin and operating margin, FY2019–FY2021 (% of net revenue)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987" y="2060773"/>
            <a:ext cx="6857828" cy="3460749"/>
          </a:xfrm>
          <a:prstGeom prst="roundRect">
            <a:avLst>
              <a:gd name="adj" fmla="val 1834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mpqiqpl_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32" y="2219523"/>
            <a:ext cx="6489537" cy="292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132" y="5248473"/>
            <a:ext cx="74660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Gross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6530" y="5248473"/>
            <a:ext cx="927374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Operating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3307" y="2098873"/>
            <a:ext cx="4000399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8A6526"/>
                </a:solidFill>
                <a:latin typeface="Helvetica Neue"/>
              </a:rPr>
              <a:t>SO WHAT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654" y="2302073"/>
            <a:ext cx="3867053" cy="3561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2A3B52"/>
                </a:solidFill>
                <a:latin typeface="Helvetica Neue"/>
              </a:rPr>
              <a:t>Gross margin climbed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nearly 12 points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in two years as higher-margin digital and recurrent revenue grew.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3307" y="2302073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6654" y="2759868"/>
            <a:ext cx="3867053" cy="3561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2A3B52"/>
                </a:solidFill>
                <a:latin typeface="Helvetica Neue"/>
              </a:rPr>
              <a:t>Income from operations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more than tripled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, from $207M (FY2019) to $629M (FY2021).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3307" y="2759868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6654" y="3217664"/>
            <a:ext cx="3867053" cy="3561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2A3B52"/>
                </a:solidFill>
                <a:latin typeface="Helvetica Neue"/>
              </a:rPr>
              <a:t>Net income margin reached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17.5%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in FY2021, up from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12.5%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in FY2019.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3307" y="3217664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987" y="6113859"/>
            <a:ext cx="11175720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¹ Margins computed on GAAP net revenue. ² Income from operations = $629M in FY2021 (10-K Statements of Operations).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987" y="6302375"/>
            <a:ext cx="11175720" cy="212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Source: FY2021 10-K, Statements of Operations. Margins computed on GAAP net revenue.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987" y="6597650"/>
            <a:ext cx="2860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E1B2C"/>
                </a:solidFill>
                <a:latin typeface="Helvetica Neue"/>
              </a:rPr>
              <a:t>TAKE-TWO INTERACTIVE</a:t>
            </a:r>
            <a:r>
              <a:rPr sz="800" b="1" i="0">
                <a:solidFill>
                  <a:srgbClr val="5A6B7E"/>
                </a:solidFill>
                <a:latin typeface="Helvetica Neue"/>
              </a:rPr>
              <a:t> · FINANCIAL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9103" y="6597650"/>
            <a:ext cx="404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0">
            <a:gsLst>
              <a:gs pos="0">
                <a:srgbClr val="B8893A"/>
              </a:gs>
              <a:gs pos="50000">
                <a:srgbClr val="8A6526"/>
              </a:gs>
              <a:gs pos="100000">
                <a:srgbClr val="0E1B2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7987" y="380999"/>
            <a:ext cx="1258955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06 · REVENUE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1697" y="380999"/>
            <a:ext cx="1252010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FY2020 VS FY2021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87" y="761999"/>
            <a:ext cx="9524761" cy="1714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1" i="0">
                <a:solidFill>
                  <a:srgbClr val="8A6526"/>
                </a:solidFill>
                <a:latin typeface="Helvetica Neue"/>
              </a:rPr>
              <a:t>THE MODEL FLIPS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87" y="908049"/>
            <a:ext cx="9524761" cy="6891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99" b="1" i="0">
                <a:solidFill>
                  <a:srgbClr val="0E1B2C"/>
                </a:solidFill>
                <a:latin typeface="Georgia"/>
              </a:rPr>
              <a:t>Recurrent consumer spending became the majority of revenue, flipping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987" y="1686123"/>
            <a:ext cx="9524761" cy="2000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49" b="0" i="1">
                <a:solidFill>
                  <a:srgbClr val="5A6B7E"/>
                </a:solidFill>
                <a:latin typeface="Helvetica Neue"/>
              </a:rPr>
              <a:t>Net revenue by type, FY2020 vs FY2021 ($M)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987" y="2060773"/>
            <a:ext cx="6857828" cy="3460749"/>
          </a:xfrm>
          <a:prstGeom prst="roundRect">
            <a:avLst>
              <a:gd name="adj" fmla="val 1834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mphopy32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32" y="2219523"/>
            <a:ext cx="6489537" cy="292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132" y="5248473"/>
            <a:ext cx="489830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FY2020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9758" y="5248473"/>
            <a:ext cx="7795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FY2021 (RCS)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7096" y="5248473"/>
            <a:ext cx="489830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FY2020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4723" y="5248473"/>
            <a:ext cx="1012998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FY2021 (Full game)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3307" y="2098873"/>
            <a:ext cx="4000399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8A6526"/>
                </a:solidFill>
                <a:latin typeface="Helvetica Neue"/>
              </a:rPr>
              <a:t>SO WHAT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6654" y="2302073"/>
            <a:ext cx="3867053" cy="3625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1" i="0">
                <a:solidFill>
                  <a:srgbClr val="0E1B2C"/>
                </a:solidFill>
                <a:latin typeface="Helvetica Neue"/>
              </a:rPr>
              <a:t>RCS grew 50%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year over year and became the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majority of revenue for the first time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3307" y="2302073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6654" y="2766218"/>
            <a:ext cx="3867053" cy="3625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2A3B52"/>
                </a:solidFill>
                <a:latin typeface="Helvetica Neue"/>
              </a:rPr>
              <a:t>RCS reached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62% of net revenue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in FY2021 (and 63% of net bookings), up from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45%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a year earlier.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3307" y="2766218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6654" y="3230364"/>
            <a:ext cx="3867053" cy="3561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2A3B52"/>
                </a:solidFill>
                <a:latin typeface="Helvetica Neue"/>
              </a:rPr>
              <a:t>The shift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de-risks the model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: revenue is increasingly recurring rather than tied to new-title launches.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3307" y="3230364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987" y="6113859"/>
            <a:ext cx="11175720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¹ RCS = recurrent consumer spending (in-game purchases, virtual currency, add-on content). ² FY2021 shares: RCS 62%, Full game 38% of net revenue.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987" y="6302375"/>
            <a:ext cx="11175720" cy="212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Source: FY2021 10-K, net revenue by type. RCS = recurrent consumer spending (in-game purchases, virtual currency, add-on content).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987" y="6597650"/>
            <a:ext cx="2860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E1B2C"/>
                </a:solidFill>
                <a:latin typeface="Helvetica Neue"/>
              </a:rPr>
              <a:t>TAKE-TWO INTERACTIVE</a:t>
            </a:r>
            <a:r>
              <a:rPr sz="800" b="1" i="0">
                <a:solidFill>
                  <a:srgbClr val="5A6B7E"/>
                </a:solidFill>
                <a:latin typeface="Helvetica Neue"/>
              </a:rPr>
              <a:t> · FINANCIAL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9103" y="6597650"/>
            <a:ext cx="404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0">
            <a:gsLst>
              <a:gs pos="0">
                <a:srgbClr val="B8893A"/>
              </a:gs>
              <a:gs pos="50000">
                <a:srgbClr val="8A6526"/>
              </a:gs>
              <a:gs pos="100000">
                <a:srgbClr val="0E1B2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7987" y="380999"/>
            <a:ext cx="200992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07 · CHANNEL &amp; GEOGRAPHY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2268" y="380999"/>
            <a:ext cx="1501439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FY2021 NET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87" y="761999"/>
            <a:ext cx="9524761" cy="1714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1" i="0">
                <a:solidFill>
                  <a:srgbClr val="8A6526"/>
                </a:solidFill>
                <a:latin typeface="Helvetica Neue"/>
              </a:rPr>
              <a:t>WHERE REVENUE COMES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87" y="908049"/>
            <a:ext cx="9524761" cy="6891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99" b="1" i="0">
                <a:solidFill>
                  <a:srgbClr val="0E1B2C"/>
                </a:solidFill>
                <a:latin typeface="Georgia"/>
              </a:rPr>
              <a:t>Revenue is overwhelmingly digital and led by the U.S., with 40% from abroad.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987" y="1851223"/>
            <a:ext cx="5435464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8A6526"/>
                </a:solidFill>
                <a:latin typeface="Helvetica Neue"/>
              </a:rPr>
              <a:t>BY DISTRIBUTION CHANNEL — FY2021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987" y="2054423"/>
            <a:ext cx="5435464" cy="1574800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433" y="2213173"/>
            <a:ext cx="2486359" cy="241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5792" y="2213173"/>
            <a:ext cx="1577340" cy="241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1" i="0">
                <a:solidFill>
                  <a:srgbClr val="5A6B7E"/>
                </a:solidFill>
                <a:latin typeface="Helvetica Neue"/>
              </a:rPr>
              <a:t>FY2021 ($M)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3132" y="2213173"/>
            <a:ext cx="1028872" cy="241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1" i="0">
                <a:solidFill>
                  <a:srgbClr val="5A6B7E"/>
                </a:solidFill>
                <a:latin typeface="Helvetica Neue"/>
              </a:rPr>
              <a:t>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433" y="2454473"/>
            <a:ext cx="2486359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0E1B2C"/>
                </a:solidFill>
                <a:latin typeface="Helvetica Neue"/>
              </a:rPr>
              <a:t>Digital 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5792" y="2454473"/>
            <a:ext cx="1577340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0E1B2C"/>
                </a:solidFill>
                <a:latin typeface="Helvetica Neue"/>
              </a:rPr>
              <a:t>2,919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3132" y="2454473"/>
            <a:ext cx="1028872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49" b="1" i="0">
                <a:solidFill>
                  <a:srgbClr val="5A6B7E"/>
                </a:solidFill>
                <a:latin typeface="Helvetica Neue"/>
              </a:rPr>
              <a:t>86.6%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433" y="2794198"/>
            <a:ext cx="2486359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0E1B2C"/>
                </a:solidFill>
                <a:latin typeface="Helvetica Neue"/>
              </a:rPr>
              <a:t>Physical retail &amp; other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5792" y="2794198"/>
            <a:ext cx="1577340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0E1B2C"/>
                </a:solidFill>
                <a:latin typeface="Helvetica Neue"/>
              </a:rPr>
              <a:t>453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3132" y="2794198"/>
            <a:ext cx="1028872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49" b="1" i="0">
                <a:solidFill>
                  <a:srgbClr val="5A6B7E"/>
                </a:solidFill>
                <a:latin typeface="Helvetica Neue"/>
              </a:rPr>
              <a:t>13.4%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9433" y="3133923"/>
            <a:ext cx="5092572" cy="336550"/>
          </a:xfrm>
          <a:prstGeom prst="rect">
            <a:avLst/>
          </a:prstGeom>
          <a:noFill/>
          <a:ln w="12699">
            <a:solidFill>
              <a:srgbClr val="0E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330" y="3229173"/>
            <a:ext cx="276912" cy="1809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1" i="0">
                <a:solidFill>
                  <a:srgbClr val="0E1B2C"/>
                </a:solidFill>
                <a:latin typeface="Helvetica Neue"/>
              </a:rPr>
              <a:t>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320" y="3229173"/>
            <a:ext cx="301915" cy="1809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0E1B2C"/>
                </a:solidFill>
                <a:latin typeface="Helvetica Neue"/>
              </a:rPr>
              <a:t>3,372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5083" y="3238698"/>
            <a:ext cx="288024" cy="16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49" b="1" i="0">
                <a:solidFill>
                  <a:srgbClr val="5A6B7E"/>
                </a:solidFill>
                <a:latin typeface="Helvetica Neue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8243" y="1851223"/>
            <a:ext cx="5435464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8A6526"/>
                </a:solidFill>
                <a:latin typeface="Helvetica Neue"/>
              </a:rPr>
              <a:t>BY GEOGRAPHY — FY2020 VS FY2021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243" y="2054423"/>
            <a:ext cx="5435464" cy="1574800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689" y="2213173"/>
            <a:ext cx="1413335" cy="241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GEOGRAPHY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3025" y="2213173"/>
            <a:ext cx="1321163" cy="241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1" i="0">
                <a:solidFill>
                  <a:srgbClr val="5A6B7E"/>
                </a:solidFill>
                <a:latin typeface="Helvetica Neue"/>
              </a:rPr>
              <a:t>FY2020 ($M)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4189" y="2213173"/>
            <a:ext cx="1321163" cy="241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1" i="0">
                <a:solidFill>
                  <a:srgbClr val="5A6B7E"/>
                </a:solidFill>
                <a:latin typeface="Helvetica Neue"/>
              </a:rPr>
              <a:t>FY2021 ($M)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5352" y="2213173"/>
            <a:ext cx="1036909" cy="241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1" i="0">
                <a:solidFill>
                  <a:srgbClr val="5A6B7E"/>
                </a:solidFill>
                <a:latin typeface="Helvetica Neue"/>
              </a:rPr>
              <a:t>GROWTH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689" y="2454473"/>
            <a:ext cx="1413335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0E1B2C"/>
                </a:solidFill>
                <a:latin typeface="Helvetica Neue"/>
              </a:rPr>
              <a:t>United States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3025" y="2454473"/>
            <a:ext cx="1321163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0E1B2C"/>
                </a:solidFill>
                <a:latin typeface="Helvetica Neue"/>
              </a:rPr>
              <a:t>1,776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4189" y="2454473"/>
            <a:ext cx="1321163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0E1B2C"/>
                </a:solidFill>
                <a:latin typeface="Helvetica Neue"/>
              </a:rPr>
              <a:t>2,016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5352" y="2454473"/>
            <a:ext cx="1036909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3A7D5C"/>
                </a:solidFill>
                <a:latin typeface="Helvetica Neue"/>
              </a:rPr>
              <a:t>+14%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689" y="2794198"/>
            <a:ext cx="1413335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0E1B2C"/>
                </a:solidFill>
                <a:latin typeface="Helvetica Neue"/>
              </a:rPr>
              <a:t>International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33025" y="2794198"/>
            <a:ext cx="1321163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0E1B2C"/>
                </a:solidFill>
                <a:latin typeface="Helvetica Neue"/>
              </a:rPr>
              <a:t>1,313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4189" y="2794198"/>
            <a:ext cx="1321163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0E1B2C"/>
                </a:solidFill>
                <a:latin typeface="Helvetica Neue"/>
              </a:rPr>
              <a:t>1,357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5352" y="2794198"/>
            <a:ext cx="1036909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5A6B7E"/>
                </a:solidFill>
                <a:latin typeface="Helvetica Neue"/>
              </a:rPr>
              <a:t>+3%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19689" y="3133923"/>
            <a:ext cx="5092572" cy="336550"/>
          </a:xfrm>
          <a:prstGeom prst="rect">
            <a:avLst/>
          </a:prstGeom>
          <a:noFill/>
          <a:ln w="12699">
            <a:solidFill>
              <a:srgbClr val="0E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8587" y="3229173"/>
            <a:ext cx="276912" cy="1809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1" i="0">
                <a:solidFill>
                  <a:srgbClr val="0E1B2C"/>
                </a:solidFill>
                <a:latin typeface="Helvetica Neue"/>
              </a:rPr>
              <a:t>Total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3376" y="3229173"/>
            <a:ext cx="301915" cy="1809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0E1B2C"/>
                </a:solidFill>
                <a:latin typeface="Helvetica Neue"/>
              </a:rPr>
              <a:t>3,089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84540" y="3229173"/>
            <a:ext cx="301915" cy="1809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0E1B2C"/>
                </a:solidFill>
                <a:latin typeface="Helvetica Neue"/>
              </a:rPr>
              <a:t>3,373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75352" y="3133923"/>
            <a:ext cx="1036909" cy="33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0E1B2C"/>
                </a:solidFill>
                <a:latin typeface="Helvetica Neue"/>
              </a:rPr>
              <a:t>+9%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987" y="3857823"/>
            <a:ext cx="3623576" cy="3440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1" i="0">
                <a:solidFill>
                  <a:srgbClr val="0E1B2C"/>
                </a:solidFill>
                <a:latin typeface="Helvetica Neue"/>
              </a:rPr>
              <a:t>Digital delivery reached 86.6%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 of net revenue (87% of net bookings), up from </a:t>
            </a:r>
            <a:r>
              <a:rPr sz="899" b="1" i="0">
                <a:solidFill>
                  <a:srgbClr val="0E1B2C"/>
                </a:solidFill>
                <a:latin typeface="Helvetica Neue"/>
              </a:rPr>
              <a:t>63%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 just two years earlier.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83960" y="3857823"/>
            <a:ext cx="3623675" cy="3440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0" i="0">
                <a:solidFill>
                  <a:srgbClr val="2A3B52"/>
                </a:solidFill>
                <a:latin typeface="Helvetica Neue"/>
              </a:rPr>
              <a:t>The </a:t>
            </a:r>
            <a:r>
              <a:rPr sz="899" b="1" i="0">
                <a:solidFill>
                  <a:srgbClr val="0E1B2C"/>
                </a:solidFill>
                <a:latin typeface="Helvetica Neue"/>
              </a:rPr>
              <a:t>U.S. drove growth at +14%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; international held </a:t>
            </a:r>
            <a:r>
              <a:rPr sz="899" b="1" i="0">
                <a:solidFill>
                  <a:srgbClr val="0E1B2C"/>
                </a:solidFill>
                <a:latin typeface="Helvetica Neue"/>
              </a:rPr>
              <a:t>40%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 of revenue, with Asia ~7% of net bookings — a stated expansion opportunity.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0032" y="3857823"/>
            <a:ext cx="3623675" cy="3440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0" i="0">
                <a:solidFill>
                  <a:srgbClr val="2A3B52"/>
                </a:solidFill>
                <a:latin typeface="Helvetica Neue"/>
              </a:rPr>
              <a:t>Digital's structural dominance reflects the recurrent-consumer-spending shift and the move away from physical retail.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987" y="6113859"/>
            <a:ext cx="11175720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¹ Channel total ($3,372M) reflects rounding against net revenue of $3,373M. ² Asia ~7% of net bookings per management commentary; geography growth computed on reported figures.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987" y="6302375"/>
            <a:ext cx="11175720" cy="212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Source: FY2021 10-K, net revenue by distribution channel and by geography.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987" y="6597650"/>
            <a:ext cx="2860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E1B2C"/>
                </a:solidFill>
                <a:latin typeface="Helvetica Neue"/>
              </a:rPr>
              <a:t>TAKE-TWO INTERACTIVE</a:t>
            </a:r>
            <a:r>
              <a:rPr sz="800" b="1" i="0">
                <a:solidFill>
                  <a:srgbClr val="5A6B7E"/>
                </a:solidFill>
                <a:latin typeface="Helvetica Neue"/>
              </a:rPr>
              <a:t> · FINANCIAL OVERVIEW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79103" y="6597650"/>
            <a:ext cx="404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0">
            <a:gsLst>
              <a:gs pos="0">
                <a:srgbClr val="B8893A"/>
              </a:gs>
              <a:gs pos="50000">
                <a:srgbClr val="8A6526"/>
              </a:gs>
              <a:gs pos="100000">
                <a:srgbClr val="0E1B2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7987" y="380999"/>
            <a:ext cx="1351027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08 · PLATFORM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95563" y="380999"/>
            <a:ext cx="488144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FY2021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87" y="761999"/>
            <a:ext cx="9524761" cy="1714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1" i="0">
                <a:solidFill>
                  <a:srgbClr val="8A6526"/>
                </a:solidFill>
                <a:latin typeface="Helvetica Neue"/>
              </a:rPr>
              <a:t>PLATFORM 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87" y="908049"/>
            <a:ext cx="9524761" cy="6891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99" b="1" i="0">
                <a:solidFill>
                  <a:srgbClr val="0E1B2C"/>
                </a:solidFill>
                <a:latin typeface="Georgia"/>
              </a:rPr>
              <a:t>Console anchors the business while PC and mobile broaden the 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987" y="1686123"/>
            <a:ext cx="9524761" cy="2000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49" b="0" i="1">
                <a:solidFill>
                  <a:srgbClr val="5A6B7E"/>
                </a:solidFill>
                <a:latin typeface="Helvetica Neue"/>
              </a:rPr>
              <a:t>FY2021 net revenue by platform ($M)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987" y="2060773"/>
            <a:ext cx="6857828" cy="331470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mpbe21h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31" y="2257623"/>
            <a:ext cx="2920926" cy="2921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905152" y="3191767"/>
            <a:ext cx="114297" cy="114300"/>
          </a:xfrm>
          <a:prstGeom prst="roundRect">
            <a:avLst>
              <a:gd name="adj" fmla="val 16666"/>
            </a:avLst>
          </a:prstGeom>
          <a:solidFill>
            <a:srgbClr val="2E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8347" y="3115567"/>
            <a:ext cx="1199623" cy="1904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99" b="1" i="0">
                <a:solidFill>
                  <a:srgbClr val="0E1B2C"/>
                </a:solidFill>
                <a:latin typeface="Helvetica Neue"/>
              </a:rPr>
              <a:t>Console — $2,517M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8347" y="3274317"/>
            <a:ext cx="119962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75% of FY2021 net revenue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05152" y="3572767"/>
            <a:ext cx="114297" cy="114300"/>
          </a:xfrm>
          <a:prstGeom prst="roundRect">
            <a:avLst>
              <a:gd name="adj" fmla="val 16666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08347" y="3496567"/>
            <a:ext cx="1390416" cy="1904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99" b="1" i="0">
                <a:solidFill>
                  <a:srgbClr val="0E1B2C"/>
                </a:solidFill>
                <a:latin typeface="Helvetica Neue"/>
              </a:rPr>
              <a:t>PC and other — $856M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8347" y="3655317"/>
            <a:ext cx="1390416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25% of FY2021 net revenue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05152" y="3915667"/>
            <a:ext cx="3238419" cy="405010"/>
          </a:xfrm>
          <a:prstGeom prst="rect">
            <a:avLst/>
          </a:prstGeom>
          <a:noFill/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05152" y="3915667"/>
            <a:ext cx="3238419" cy="40501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E1B2C"/>
                </a:solidFill>
                <a:latin typeface="Helvetica Neue"/>
              </a:rPr>
              <a:t>Grand Theft Auto</a:t>
            </a:r>
            <a:r>
              <a:rPr sz="800" b="0" i="0">
                <a:solidFill>
                  <a:srgbClr val="2A3B52"/>
                </a:solidFill>
                <a:latin typeface="Helvetica Neue"/>
              </a:rPr>
              <a:t> products alone represented </a:t>
            </a:r>
            <a:r>
              <a:rPr sz="800" b="1" i="0">
                <a:solidFill>
                  <a:srgbClr val="8A6526"/>
                </a:solidFill>
                <a:latin typeface="Helvetica Neue"/>
              </a:rPr>
              <a:t>29.2%</a:t>
            </a:r>
            <a:r>
              <a:rPr sz="800" b="0" i="0">
                <a:solidFill>
                  <a:srgbClr val="2A3B52"/>
                </a:solidFill>
                <a:latin typeface="Helvetica Neue"/>
              </a:rPr>
              <a:t> of total net revenue.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3307" y="2098873"/>
            <a:ext cx="4000399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8A6526"/>
                </a:solidFill>
                <a:latin typeface="Helvetica Neue"/>
              </a:rPr>
              <a:t>SO WHAT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6654" y="2302073"/>
            <a:ext cx="3867053" cy="3625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1" i="0">
                <a:solidFill>
                  <a:srgbClr val="0E1B2C"/>
                </a:solidFill>
                <a:latin typeface="Helvetica Neue"/>
              </a:rPr>
              <a:t>Console delivered 75%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of FY2021 net revenue, led by the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GTA and NBA 2K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franchises.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3307" y="2302073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6654" y="2766218"/>
            <a:ext cx="3867053" cy="3561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1" i="0">
                <a:solidFill>
                  <a:srgbClr val="0E1B2C"/>
                </a:solidFill>
                <a:latin typeface="Helvetica Neue"/>
              </a:rPr>
              <a:t>PC and other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contributed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$856M (25%)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, including a growing mobile and PC-digital base.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3307" y="2766218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6654" y="3224014"/>
            <a:ext cx="3867053" cy="3561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1" i="0">
                <a:solidFill>
                  <a:srgbClr val="0E1B2C"/>
                </a:solidFill>
                <a:latin typeface="Helvetica Neue"/>
              </a:rPr>
              <a:t>Grand Theft Auto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products alone represented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29.2%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of total net revenue.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3307" y="3224014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987" y="6113859"/>
            <a:ext cx="11175720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¹ Platform breakdown per 10-K "net revenue by platform." ² "PC and other" includes mobile, reported within the same line. ³ GTA share per FY2021 10-K disclosure.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987" y="6302375"/>
            <a:ext cx="11175720" cy="212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Source: FY2021 10-K, net revenue by platform.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987" y="6597650"/>
            <a:ext cx="2860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E1B2C"/>
                </a:solidFill>
                <a:latin typeface="Helvetica Neue"/>
              </a:rPr>
              <a:t>TAKE-TWO INTERACTIVE</a:t>
            </a:r>
            <a:r>
              <a:rPr sz="800" b="1" i="0">
                <a:solidFill>
                  <a:srgbClr val="5A6B7E"/>
                </a:solidFill>
                <a:latin typeface="Helvetica Neue"/>
              </a:rPr>
              <a:t> · FINANCIAL 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9103" y="6597650"/>
            <a:ext cx="404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0">
            <a:gsLst>
              <a:gs pos="0">
                <a:srgbClr val="B8893A"/>
              </a:gs>
              <a:gs pos="50000">
                <a:srgbClr val="8A6526"/>
              </a:gs>
              <a:gs pos="100000">
                <a:srgbClr val="0E1B2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7987" y="380999"/>
            <a:ext cx="1450641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09 · 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5949" y="380999"/>
            <a:ext cx="1587757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AS OF MARCH 31, 2021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87" y="761999"/>
            <a:ext cx="9524761" cy="1714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1" i="0">
                <a:solidFill>
                  <a:srgbClr val="8A6526"/>
                </a:solidFill>
                <a:latin typeface="Helvetica Neue"/>
              </a:rPr>
              <a:t>FINANCIAL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87" y="908049"/>
            <a:ext cx="9524761" cy="6891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99" b="1" i="0">
                <a:solidFill>
                  <a:srgbClr val="0E1B2C"/>
                </a:solidFill>
                <a:latin typeface="Georgia"/>
              </a:rPr>
              <a:t>A fortress balance sheet: $2.7B in cash and investments funds the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987" y="1876623"/>
            <a:ext cx="2679633" cy="1135955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132" y="2073473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CASH &amp; EQUIVALENTS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132" y="2251273"/>
            <a:ext cx="2311342" cy="5524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99" b="1" i="0">
                <a:solidFill>
                  <a:srgbClr val="0E1B2C"/>
                </a:solidFill>
                <a:latin typeface="Georgia"/>
              </a:rPr>
              <a:t>$1,423</a:t>
            </a:r>
            <a:r>
              <a:rPr sz="1299" b="1" i="0">
                <a:solidFill>
                  <a:srgbClr val="2A3B52"/>
                </a:solidFill>
                <a:latin typeface="Georgia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132" y="2688728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3A7D5C"/>
                </a:solidFill>
                <a:latin typeface="Helvetica Neue"/>
              </a:rPr>
              <a:t>highly liquid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987" y="1876623"/>
            <a:ext cx="38099" cy="1123257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40016" y="1876623"/>
            <a:ext cx="2679633" cy="1135955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4161" y="2073473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SHORT-TERM INVESTMENTS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4161" y="2251273"/>
            <a:ext cx="2311342" cy="5524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99" b="1" i="0">
                <a:solidFill>
                  <a:srgbClr val="0E1B2C"/>
                </a:solidFill>
                <a:latin typeface="Georgia"/>
              </a:rPr>
              <a:t>$1,309</a:t>
            </a:r>
            <a:r>
              <a:rPr sz="1299" b="1" i="0">
                <a:solidFill>
                  <a:srgbClr val="2A3B52"/>
                </a:solidFill>
                <a:latin typeface="Georgia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4161" y="2688728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3A7D5C"/>
                </a:solidFill>
                <a:latin typeface="Helvetica Neue"/>
              </a:rPr>
              <a:t>+$2.7B combined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0016" y="1876623"/>
            <a:ext cx="38099" cy="1123257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045" y="1876623"/>
            <a:ext cx="2679633" cy="1135955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6191" y="2073473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OPERATING CASH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6191" y="2251273"/>
            <a:ext cx="2311342" cy="5524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99" b="1" i="0">
                <a:solidFill>
                  <a:srgbClr val="0E1B2C"/>
                </a:solidFill>
                <a:latin typeface="Georgia"/>
              </a:rPr>
              <a:t>$912</a:t>
            </a:r>
            <a:r>
              <a:rPr sz="1299" b="1" i="0">
                <a:solidFill>
                  <a:srgbClr val="2A3B52"/>
                </a:solidFill>
                <a:latin typeface="Georgia"/>
              </a:rP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6191" y="2688728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3A7D5C"/>
                </a:solidFill>
                <a:latin typeface="Helvetica Neue"/>
              </a:rPr>
              <a:t>▲ 33%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045" y="1876623"/>
            <a:ext cx="38099" cy="1123257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04074" y="1876623"/>
            <a:ext cx="2679633" cy="1135955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8220" y="2073473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STOCKHOLDERS' EQUITY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8220" y="2251273"/>
            <a:ext cx="2311342" cy="5524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99" b="1" i="0">
                <a:solidFill>
                  <a:srgbClr val="0E1B2C"/>
                </a:solidFill>
                <a:latin typeface="Georgia"/>
              </a:rPr>
              <a:t>$3,332</a:t>
            </a:r>
            <a:r>
              <a:rPr sz="1299" b="1" i="0">
                <a:solidFill>
                  <a:srgbClr val="2A3B52"/>
                </a:solidFill>
                <a:latin typeface="Georgia"/>
              </a:rPr>
              <a:t>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8220" y="2688728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3A7D5C"/>
                </a:solidFill>
                <a:latin typeface="Helvetica Neue"/>
              </a:rPr>
              <a:t>total assets $6.0B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4074" y="1876623"/>
            <a:ext cx="38099" cy="1123257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7987" y="3228478"/>
            <a:ext cx="3623576" cy="629840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987" y="3228478"/>
            <a:ext cx="38099" cy="629840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7987" y="3228478"/>
            <a:ext cx="3623576" cy="629840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/>
            <a:r>
              <a:rPr sz="899" b="0" i="0">
                <a:solidFill>
                  <a:srgbClr val="2A3B52"/>
                </a:solidFill>
                <a:latin typeface="Helvetica Neue"/>
              </a:rPr>
              <a:t>Take-Two held </a:t>
            </a:r>
            <a:r>
              <a:rPr sz="899" b="1" i="0">
                <a:solidFill>
                  <a:srgbClr val="0E1B2C"/>
                </a:solidFill>
                <a:latin typeface="Helvetica Neue"/>
              </a:rPr>
              <a:t>$2.7 billion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 in cash and short-term investments at fiscal year-end, against modest liabilities.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3960" y="3228478"/>
            <a:ext cx="3623675" cy="629840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83960" y="3228478"/>
            <a:ext cx="38099" cy="629840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83960" y="3228478"/>
            <a:ext cx="3623675" cy="629840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/>
            <a:r>
              <a:rPr sz="899" b="0" i="0">
                <a:solidFill>
                  <a:srgbClr val="2A3B52"/>
                </a:solidFill>
                <a:latin typeface="Helvetica Neue"/>
              </a:rPr>
              <a:t>Operating cash flow rose </a:t>
            </a:r>
            <a:r>
              <a:rPr sz="899" b="1" i="0">
                <a:solidFill>
                  <a:srgbClr val="0E1B2C"/>
                </a:solidFill>
                <a:latin typeface="Helvetica Neue"/>
              </a:rPr>
              <a:t>33% to $912 million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, funding development of the multi-year slate internally.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0032" y="3228478"/>
            <a:ext cx="3623675" cy="629840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0032" y="3228478"/>
            <a:ext cx="38099" cy="629840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60032" y="3228478"/>
            <a:ext cx="3623675" cy="629840"/>
          </a:xfrm>
          <a:prstGeom prst="roundRect">
            <a:avLst>
              <a:gd name="adj" fmla="val 100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/>
            <a:r>
              <a:rPr sz="899" b="0" i="0">
                <a:solidFill>
                  <a:srgbClr val="2A3B52"/>
                </a:solidFill>
                <a:latin typeface="Helvetica Neue"/>
              </a:rPr>
              <a:t>Total assets were </a:t>
            </a:r>
            <a:r>
              <a:rPr sz="899" b="1" i="0">
                <a:solidFill>
                  <a:srgbClr val="0E1B2C"/>
                </a:solidFill>
                <a:latin typeface="Helvetica Neue"/>
              </a:rPr>
              <a:t>$6.0 billion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 with </a:t>
            </a:r>
            <a:r>
              <a:rPr sz="899" b="1" i="0">
                <a:solidFill>
                  <a:srgbClr val="0E1B2C"/>
                </a:solidFill>
                <a:latin typeface="Helvetica Neue"/>
              </a:rPr>
              <a:t>$3.3 billion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 of stockholders' equity — ample capacity for content investment and M&amp;A.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987" y="6113859"/>
            <a:ext cx="11175720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¹ Cash &amp; equivalents + short-term investments = $1,423M + $1,309M = $2,732M. ² Operating cash flow change per Statement of Cash Flows.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987" y="6302375"/>
            <a:ext cx="11175720" cy="212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Source: FY2021 10-K, Balance Sheet and Statement of Cash Flows.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987" y="6597650"/>
            <a:ext cx="2860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E1B2C"/>
                </a:solidFill>
                <a:latin typeface="Helvetica Neue"/>
              </a:rPr>
              <a:t>TAKE-TWO INTERACTIVE</a:t>
            </a:r>
            <a:r>
              <a:rPr sz="800" b="1" i="0">
                <a:solidFill>
                  <a:srgbClr val="5A6B7E"/>
                </a:solidFill>
                <a:latin typeface="Helvetica Neue"/>
              </a:rPr>
              <a:t> · FINANCIAL OVERVIEW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9103" y="6597650"/>
            <a:ext cx="404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0">
          <a:gsLst>
            <a:gs pos="0">
              <a:srgbClr val="08111F"/>
            </a:gs>
            <a:gs pos="100000">
              <a:srgbClr val="0E1B2C"/>
            </a:gs>
          </a:gsLst>
          <a:lin scaled="1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0">
            <a:gsLst>
              <a:gs pos="0">
                <a:srgbClr val="B8893A"/>
              </a:gs>
              <a:gs pos="100000">
                <a:srgbClr val="8A6526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44436" y="761999"/>
            <a:ext cx="1585277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200" b="1" i="0">
                <a:solidFill>
                  <a:srgbClr val="B8893A"/>
                </a:solidFill>
                <a:latin typeface="Georgia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977" y="2731095"/>
            <a:ext cx="10413739" cy="1714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1" i="0">
                <a:solidFill>
                  <a:srgbClr val="B8893A"/>
                </a:solidFill>
                <a:latin typeface="Helvetica Neue"/>
              </a:rPr>
              <a:t>PART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977" y="3029545"/>
            <a:ext cx="8889777" cy="91437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799" b="1" i="0">
                <a:solidFill>
                  <a:srgbClr val="FBF6E9"/>
                </a:solidFill>
                <a:latin typeface="Georgia"/>
              </a:rPr>
              <a:t>The first half of fiscal 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977" y="3860105"/>
            <a:ext cx="6984825" cy="28574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99" b="0" i="0">
                <a:solidFill>
                  <a:srgbClr val="C9B98F"/>
                </a:solidFill>
                <a:latin typeface="Helvetica Neue"/>
              </a:rPr>
              <a:t>Investing through a transition year while recurrent spending deepens.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88977" y="6216650"/>
            <a:ext cx="10413739" cy="260350"/>
          </a:xfrm>
          <a:prstGeom prst="rect">
            <a:avLst/>
          </a:prstGeom>
          <a:noFill/>
          <a:ln w="6350">
            <a:solidFill>
              <a:srgbClr val="B8893A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8977" y="6362700"/>
            <a:ext cx="3797701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8A7A55"/>
                </a:solidFill>
                <a:latin typeface="Helvetica Neue"/>
              </a:rPr>
              <a:t>SOURCE: Q2 FY2022 EARNINGS RELEASE &amp; FORM 10-Q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5664" y="6362700"/>
            <a:ext cx="48705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8A7A55"/>
                </a:solidFill>
                <a:latin typeface="Helvetica Neue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0">
            <a:gsLst>
              <a:gs pos="0">
                <a:srgbClr val="B8893A"/>
              </a:gs>
              <a:gs pos="50000">
                <a:srgbClr val="8A6526"/>
              </a:gs>
              <a:gs pos="100000">
                <a:srgbClr val="0E1B2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7987" y="380999"/>
            <a:ext cx="1028376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11 · Q2 FY2022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3678" y="380999"/>
            <a:ext cx="2680029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QUARTER ENDED SEPTEMBER 30, 2021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87" y="761999"/>
            <a:ext cx="9524761" cy="1714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1" i="0">
                <a:solidFill>
                  <a:srgbClr val="8A6526"/>
                </a:solidFill>
                <a:latin typeface="Helvetica Neue"/>
              </a:rPr>
              <a:t>QUARTERLY HEADLINE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87" y="908049"/>
            <a:ext cx="9524761" cy="6891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99" b="1" i="0">
                <a:solidFill>
                  <a:srgbClr val="0E1B2C"/>
                </a:solidFill>
                <a:latin typeface="Georgia"/>
              </a:rPr>
              <a:t>Q2 FY2022 revenue held steady as the company invested for its largest-ever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987" y="1876623"/>
            <a:ext cx="2679633" cy="1135955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2132" y="2073473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Q2 NET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132" y="2251273"/>
            <a:ext cx="2311342" cy="5524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99" b="1" i="0">
                <a:solidFill>
                  <a:srgbClr val="0E1B2C"/>
                </a:solidFill>
                <a:latin typeface="Georgia"/>
              </a:rPr>
              <a:t>$858</a:t>
            </a:r>
            <a:r>
              <a:rPr sz="1299" b="1" i="0">
                <a:solidFill>
                  <a:srgbClr val="2A3B52"/>
                </a:solidFill>
                <a:latin typeface="Georgia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132" y="2688728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3A7D5C"/>
                </a:solidFill>
                <a:latin typeface="Helvetica Neue"/>
              </a:rPr>
              <a:t>held steady YoY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987" y="1876623"/>
            <a:ext cx="38099" cy="1123257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40016" y="1876623"/>
            <a:ext cx="2679633" cy="1135955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4161" y="2073473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Q2 OPERATING INCOME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4161" y="2251273"/>
            <a:ext cx="2311342" cy="5524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99" b="1" i="0">
                <a:solidFill>
                  <a:srgbClr val="0E1B2C"/>
                </a:solidFill>
                <a:latin typeface="Georgia"/>
              </a:rPr>
              <a:t>$20</a:t>
            </a:r>
            <a:r>
              <a:rPr sz="1299" b="1" i="0">
                <a:solidFill>
                  <a:srgbClr val="2A3B52"/>
                </a:solidFill>
                <a:latin typeface="Georgia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4161" y="2688728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B0473B"/>
                </a:solidFill>
                <a:latin typeface="Helvetica Neue"/>
              </a:rPr>
              <a:t>▼ vs. $115M prior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0016" y="1876623"/>
            <a:ext cx="38099" cy="1123257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045" y="1876623"/>
            <a:ext cx="2679633" cy="1135955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6191" y="2073473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Q2 DILUTED 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6191" y="2251273"/>
            <a:ext cx="2311342" cy="5524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99" b="1" i="0">
                <a:solidFill>
                  <a:srgbClr val="0E1B2C"/>
                </a:solidFill>
                <a:latin typeface="Georgia"/>
              </a:rPr>
              <a:t>$0.09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6191" y="2688728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B0473B"/>
                </a:solidFill>
                <a:latin typeface="Helvetica Neue"/>
              </a:rPr>
              <a:t>lower on investment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045" y="1876623"/>
            <a:ext cx="38099" cy="1123257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04074" y="1876623"/>
            <a:ext cx="2679633" cy="1135955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8220" y="2073473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Q2 NET BOOKINGS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8220" y="2251273"/>
            <a:ext cx="2311342" cy="5524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99" b="1" i="0">
                <a:solidFill>
                  <a:srgbClr val="0E1B2C"/>
                </a:solidFill>
                <a:latin typeface="Georgia"/>
              </a:rPr>
              <a:t>$985</a:t>
            </a:r>
            <a:r>
              <a:rPr sz="1299" b="1" i="0">
                <a:solidFill>
                  <a:srgbClr val="2A3B52"/>
                </a:solidFill>
                <a:latin typeface="Georgia"/>
              </a:rPr>
              <a:t>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8220" y="2688728"/>
            <a:ext cx="231134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3A7D5C"/>
                </a:solidFill>
                <a:latin typeface="Helvetica Neue"/>
              </a:rPr>
              <a:t>▲ 3% YoY · non-GAAP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4074" y="1876623"/>
            <a:ext cx="38099" cy="1123257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7987" y="3228478"/>
            <a:ext cx="3623576" cy="636190"/>
          </a:xfrm>
          <a:prstGeom prst="roundRect">
            <a:avLst>
              <a:gd name="adj" fmla="val 9981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987" y="3228478"/>
            <a:ext cx="38099" cy="636190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7987" y="3228478"/>
            <a:ext cx="3623576" cy="636190"/>
          </a:xfrm>
          <a:prstGeom prst="roundRect">
            <a:avLst>
              <a:gd name="adj" fmla="val 99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/>
            <a:r>
              <a:rPr sz="899" b="1" i="0">
                <a:solidFill>
                  <a:srgbClr val="0E1B2C"/>
                </a:solidFill>
                <a:latin typeface="Helvetica Neue"/>
              </a:rPr>
              <a:t>Net bookings grew 3% to $985M;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 recurrent consumer spending rose to </a:t>
            </a:r>
            <a:r>
              <a:rPr sz="899" b="1" i="0">
                <a:solidFill>
                  <a:srgbClr val="0E1B2C"/>
                </a:solidFill>
                <a:latin typeface="Helvetica Neue"/>
              </a:rPr>
              <a:t>69% of net bookings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3960" y="3228478"/>
            <a:ext cx="3623675" cy="636190"/>
          </a:xfrm>
          <a:prstGeom prst="roundRect">
            <a:avLst>
              <a:gd name="adj" fmla="val 9981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83960" y="3228478"/>
            <a:ext cx="38099" cy="636190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283960" y="3228478"/>
            <a:ext cx="3623675" cy="636190"/>
          </a:xfrm>
          <a:prstGeom prst="roundRect">
            <a:avLst>
              <a:gd name="adj" fmla="val 99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/>
            <a:r>
              <a:rPr sz="899" b="0" i="0">
                <a:solidFill>
                  <a:srgbClr val="2A3B52"/>
                </a:solidFill>
                <a:latin typeface="Helvetica Neue"/>
              </a:rPr>
              <a:t>Operating income was </a:t>
            </a:r>
            <a:r>
              <a:rPr sz="899" b="1" i="0">
                <a:solidFill>
                  <a:srgbClr val="0E1B2C"/>
                </a:solidFill>
                <a:latin typeface="Helvetica Neue"/>
              </a:rPr>
              <a:t>$20M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 (down from $115M a year earlier) as Take-Two </a:t>
            </a:r>
            <a:r>
              <a:rPr sz="899" b="1" i="0">
                <a:solidFill>
                  <a:srgbClr val="0E1B2C"/>
                </a:solidFill>
                <a:latin typeface="Helvetica Neue"/>
              </a:rPr>
              <a:t>stepped up investment in development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0032" y="3228478"/>
            <a:ext cx="3623675" cy="636190"/>
          </a:xfrm>
          <a:prstGeom prst="roundRect">
            <a:avLst>
              <a:gd name="adj" fmla="val 9981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0032" y="3228478"/>
            <a:ext cx="38099" cy="636190"/>
          </a:xfrm>
          <a:prstGeom prst="rect">
            <a:avLst/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60032" y="3228478"/>
            <a:ext cx="3623675" cy="636190"/>
          </a:xfrm>
          <a:prstGeom prst="roundRect">
            <a:avLst>
              <a:gd name="adj" fmla="val 99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/>
            <a:r>
              <a:rPr sz="899" b="0" i="0">
                <a:solidFill>
                  <a:srgbClr val="2A3B52"/>
                </a:solidFill>
                <a:latin typeface="Helvetica Neue"/>
              </a:rPr>
              <a:t>Gross margin was </a:t>
            </a:r>
            <a:r>
              <a:rPr sz="899" b="1" i="0">
                <a:solidFill>
                  <a:srgbClr val="0E1B2C"/>
                </a:solidFill>
                <a:latin typeface="Helvetica Neue"/>
              </a:rPr>
              <a:t>46.8%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; the quarter reflects a deliberate build-up ahead of a record forward slate.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987" y="6113859"/>
            <a:ext cx="11175720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¹ Q2 FY2022 = three months ended September 30, 2021. ² Operating income decline reflects higher R&amp;D and development spend, not demand weakness.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987" y="6302375"/>
            <a:ext cx="11175720" cy="212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Source: Q2 FY2022 earnings release and Form 10-Q (quarter ended September 30, 2021).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987" y="6597650"/>
            <a:ext cx="2860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E1B2C"/>
                </a:solidFill>
                <a:latin typeface="Helvetica Neue"/>
              </a:rPr>
              <a:t>TAKE-TWO INTERACTIVE</a:t>
            </a:r>
            <a:r>
              <a:rPr sz="800" b="1" i="0">
                <a:solidFill>
                  <a:srgbClr val="5A6B7E"/>
                </a:solidFill>
                <a:latin typeface="Helvetica Neue"/>
              </a:rPr>
              <a:t> · FINANCIAL OVERVIEW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9103" y="6597650"/>
            <a:ext cx="404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0">
            <a:gsLst>
              <a:gs pos="0">
                <a:srgbClr val="B8893A"/>
              </a:gs>
              <a:gs pos="50000">
                <a:srgbClr val="8A6526"/>
              </a:gs>
              <a:gs pos="100000">
                <a:srgbClr val="0E1B2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7987" y="380999"/>
            <a:ext cx="797301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12 · Q2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3678" y="380999"/>
            <a:ext cx="2680029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QUARTER ENDED SEPTEMBER 30, 2021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87" y="761999"/>
            <a:ext cx="9524761" cy="1714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1" i="0">
                <a:solidFill>
                  <a:srgbClr val="8A6526"/>
                </a:solidFill>
                <a:latin typeface="Helvetica Neue"/>
              </a:rPr>
              <a:t>Q2 GEOGRAPHY &amp;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87" y="908049"/>
            <a:ext cx="9524761" cy="6891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99" b="1" i="0">
                <a:solidFill>
                  <a:srgbClr val="0E1B2C"/>
                </a:solidFill>
                <a:latin typeface="Georgia"/>
              </a:rPr>
              <a:t>In Q2, digital and recurrent spending deepened across both geography and channel.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987" y="1851223"/>
            <a:ext cx="5435464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8A6526"/>
                </a:solidFill>
                <a:latin typeface="Helvetica Neue"/>
              </a:rPr>
              <a:t>BY GEOGRAPHY — Q2 FY22 NET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987" y="2054423"/>
            <a:ext cx="5435464" cy="1574800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433" y="2213173"/>
            <a:ext cx="1951980" cy="241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GEOGRAPHY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1413" y="2213173"/>
            <a:ext cx="1950492" cy="241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1" i="0">
                <a:solidFill>
                  <a:srgbClr val="5A6B7E"/>
                </a:solidFill>
                <a:latin typeface="Helvetica Neue"/>
              </a:rPr>
              <a:t>Q2 FY22 ($M)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906" y="2213173"/>
            <a:ext cx="1190099" cy="241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1" i="0">
                <a:solidFill>
                  <a:srgbClr val="5A6B7E"/>
                </a:solidFill>
                <a:latin typeface="Helvetica Neue"/>
              </a:rPr>
              <a:t>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433" y="2454473"/>
            <a:ext cx="1951980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0E1B2C"/>
                </a:solidFill>
                <a:latin typeface="Helvetica Neue"/>
              </a:rPr>
              <a:t>United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1413" y="2454473"/>
            <a:ext cx="1950492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0E1B2C"/>
                </a:solidFill>
                <a:latin typeface="Helvetica Neue"/>
              </a:rPr>
              <a:t>515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906" y="2454473"/>
            <a:ext cx="1190099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49" b="1" i="0">
                <a:solidFill>
                  <a:srgbClr val="5A6B7E"/>
                </a:solidFill>
                <a:latin typeface="Helvetica Neue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433" y="2794198"/>
            <a:ext cx="1951980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0E1B2C"/>
                </a:solidFill>
                <a:latin typeface="Helvetica Neue"/>
              </a:rPr>
              <a:t>International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1413" y="2794198"/>
            <a:ext cx="1950492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0E1B2C"/>
                </a:solidFill>
                <a:latin typeface="Helvetica Neue"/>
              </a:rPr>
              <a:t>343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906" y="2794198"/>
            <a:ext cx="1190099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49" b="1" i="0">
                <a:solidFill>
                  <a:srgbClr val="5A6B7E"/>
                </a:solidFill>
                <a:latin typeface="Helvetica Neue"/>
              </a:rPr>
              <a:t>40%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9433" y="3133923"/>
            <a:ext cx="5092572" cy="336550"/>
          </a:xfrm>
          <a:prstGeom prst="rect">
            <a:avLst/>
          </a:prstGeom>
          <a:noFill/>
          <a:ln w="12699">
            <a:solidFill>
              <a:srgbClr val="0E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330" y="3229173"/>
            <a:ext cx="276912" cy="1809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1" i="0">
                <a:solidFill>
                  <a:srgbClr val="0E1B2C"/>
                </a:solidFill>
                <a:latin typeface="Helvetica Neue"/>
              </a:rPr>
              <a:t>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1698" y="3229173"/>
            <a:ext cx="201309" cy="1809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0E1B2C"/>
                </a:solidFill>
                <a:latin typeface="Helvetica Neue"/>
              </a:rPr>
              <a:t>858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5083" y="3238698"/>
            <a:ext cx="288024" cy="16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49" b="1" i="0">
                <a:solidFill>
                  <a:srgbClr val="5A6B7E"/>
                </a:solidFill>
                <a:latin typeface="Helvetica Neue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8243" y="1851223"/>
            <a:ext cx="5435464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8A6526"/>
                </a:solidFill>
                <a:latin typeface="Helvetica Neue"/>
              </a:rPr>
              <a:t>BY CHANNEL — Q2 FY22 NET REVENUE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243" y="2054423"/>
            <a:ext cx="5435464" cy="1574800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689" y="2213173"/>
            <a:ext cx="2125014" cy="241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CHANNEL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4703" y="2213173"/>
            <a:ext cx="1843041" cy="241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1" i="0">
                <a:solidFill>
                  <a:srgbClr val="5A6B7E"/>
                </a:solidFill>
                <a:latin typeface="Helvetica Neue"/>
              </a:rPr>
              <a:t>Q2 FY22 ($M)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87744" y="2213173"/>
            <a:ext cx="1124517" cy="241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1" i="0">
                <a:solidFill>
                  <a:srgbClr val="5A6B7E"/>
                </a:solidFill>
                <a:latin typeface="Helvetica Neue"/>
              </a:rPr>
              <a:t>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689" y="2454473"/>
            <a:ext cx="2125014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0E1B2C"/>
                </a:solidFill>
                <a:latin typeface="Helvetica Neue"/>
              </a:rPr>
              <a:t>Digital online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4703" y="2454473"/>
            <a:ext cx="1843041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0E1B2C"/>
                </a:solidFill>
                <a:latin typeface="Helvetica Neue"/>
              </a:rPr>
              <a:t>779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87744" y="2454473"/>
            <a:ext cx="1124517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49" b="1" i="0">
                <a:solidFill>
                  <a:srgbClr val="5A6B7E"/>
                </a:solidFill>
                <a:latin typeface="Helvetica Neue"/>
              </a:rPr>
              <a:t>91%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689" y="2794198"/>
            <a:ext cx="2125014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0E1B2C"/>
                </a:solidFill>
                <a:latin typeface="Helvetica Neue"/>
              </a:rPr>
              <a:t>Physical &amp; other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4703" y="2794198"/>
            <a:ext cx="1843041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0E1B2C"/>
                </a:solidFill>
                <a:latin typeface="Helvetica Neue"/>
              </a:rPr>
              <a:t>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7744" y="2794198"/>
            <a:ext cx="1124517" cy="339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49" b="1" i="0">
                <a:solidFill>
                  <a:srgbClr val="5A6B7E"/>
                </a:solidFill>
                <a:latin typeface="Helvetica Neue"/>
              </a:rPr>
              <a:t>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9689" y="3133923"/>
            <a:ext cx="5092572" cy="336550"/>
          </a:xfrm>
          <a:prstGeom prst="rect">
            <a:avLst/>
          </a:prstGeom>
          <a:noFill/>
          <a:ln w="12699">
            <a:solidFill>
              <a:srgbClr val="0E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8587" y="3229173"/>
            <a:ext cx="276912" cy="1809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1" i="0">
                <a:solidFill>
                  <a:srgbClr val="0E1B2C"/>
                </a:solidFill>
                <a:latin typeface="Helvetica Neue"/>
              </a:rPr>
              <a:t>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7537" y="3229173"/>
            <a:ext cx="201309" cy="1809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49" b="1" i="0">
                <a:solidFill>
                  <a:srgbClr val="0E1B2C"/>
                </a:solidFill>
                <a:latin typeface="Helvetica Neue"/>
              </a:rPr>
              <a:t>858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5339" y="3238698"/>
            <a:ext cx="288024" cy="16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49" b="1" i="0">
                <a:solidFill>
                  <a:srgbClr val="5A6B7E"/>
                </a:solidFill>
                <a:latin typeface="Helvetica Neue"/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987" y="3857823"/>
            <a:ext cx="3623576" cy="3377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1" i="0">
                <a:solidFill>
                  <a:srgbClr val="0E1B2C"/>
                </a:solidFill>
                <a:latin typeface="Helvetica Neue"/>
              </a:rPr>
              <a:t>Digital reached 91%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 of quarterly net revenue (89% of net bookings) — the structural shift continues.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83960" y="3857823"/>
            <a:ext cx="3623675" cy="3377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0" i="0">
                <a:solidFill>
                  <a:srgbClr val="2A3B52"/>
                </a:solidFill>
                <a:latin typeface="Helvetica Neue"/>
              </a:rPr>
              <a:t>The </a:t>
            </a:r>
            <a:r>
              <a:rPr sz="899" b="1" i="0">
                <a:solidFill>
                  <a:srgbClr val="0E1B2C"/>
                </a:solidFill>
                <a:latin typeface="Helvetica Neue"/>
              </a:rPr>
              <a:t>U.S./international split held near 60/40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, consistent with the full-year FY2021 mix.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0032" y="3857823"/>
            <a:ext cx="3623675" cy="3377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0" i="0">
                <a:solidFill>
                  <a:srgbClr val="2A3B52"/>
                </a:solidFill>
                <a:latin typeface="Helvetica Neue"/>
              </a:rPr>
              <a:t>Recurrent consumer spending rose to </a:t>
            </a:r>
            <a:r>
              <a:rPr sz="899" b="1" i="0">
                <a:solidFill>
                  <a:srgbClr val="0E1B2C"/>
                </a:solidFill>
                <a:latin typeface="Helvetica Neue"/>
              </a:rPr>
              <a:t>69% of net bookings</a:t>
            </a:r>
            <a:r>
              <a:rPr sz="899" b="0" i="0">
                <a:solidFill>
                  <a:srgbClr val="2A3B52"/>
                </a:solidFill>
                <a:latin typeface="Helvetica Neue"/>
              </a:rPr>
              <a:t> in the quarter, extending the FY2021 flip.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987" y="6113859"/>
            <a:ext cx="11175720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¹ Q2 FY22 net revenue $858M; totals may not foot due to rounding. ² Digital share of net bookings = 89% per Q2 FY2022 release.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987" y="6302375"/>
            <a:ext cx="11175720" cy="212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Source: Q2 FY2022 earnings release (quarter ended September 30, 2021).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987" y="6597650"/>
            <a:ext cx="2860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E1B2C"/>
                </a:solidFill>
                <a:latin typeface="Helvetica Neue"/>
              </a:rPr>
              <a:t>TAKE-TWO INTERACTIVE</a:t>
            </a:r>
            <a:r>
              <a:rPr sz="800" b="1" i="0">
                <a:solidFill>
                  <a:srgbClr val="5A6B7E"/>
                </a:solidFill>
                <a:latin typeface="Helvetica Neue"/>
              </a:rPr>
              <a:t> · FINANCIAL OVERVIEW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79103" y="6597650"/>
            <a:ext cx="404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0">
            <a:gsLst>
              <a:gs pos="0">
                <a:srgbClr val="B8893A"/>
              </a:gs>
              <a:gs pos="50000">
                <a:srgbClr val="8A6526"/>
              </a:gs>
              <a:gs pos="100000">
                <a:srgbClr val="0E1B2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7987" y="380999"/>
            <a:ext cx="842346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13 ·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0044" y="380999"/>
            <a:ext cx="171366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Q2 FY2021 VS Q2 FY2022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87" y="761999"/>
            <a:ext cx="9524761" cy="1714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1" i="0">
                <a:solidFill>
                  <a:srgbClr val="8A6526"/>
                </a:solidFill>
                <a:latin typeface="Helvetica Neue"/>
              </a:rPr>
              <a:t>FASTEST-GROWING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987" y="908049"/>
            <a:ext cx="9524761" cy="6891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99" b="1" i="0">
                <a:solidFill>
                  <a:srgbClr val="0E1B2C"/>
                </a:solidFill>
                <a:latin typeface="Georgia"/>
              </a:rPr>
              <a:t>Mobile net revenue nearly doubled, led by Social Point's live-service titles.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987" y="1686123"/>
            <a:ext cx="9524761" cy="2000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49" b="0" i="1">
                <a:solidFill>
                  <a:srgbClr val="5A6B7E"/>
                </a:solidFill>
                <a:latin typeface="Helvetica Neue"/>
              </a:rPr>
              <a:t>Mobile net revenue, Q2 FY2021 vs Q2 FY2022 ($M)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987" y="2060773"/>
            <a:ext cx="6857828" cy="3460749"/>
          </a:xfrm>
          <a:prstGeom prst="roundRect">
            <a:avLst>
              <a:gd name="adj" fmla="val 1834"/>
            </a:avLst>
          </a:prstGeom>
          <a:solidFill>
            <a:srgbClr val="FFFFFF"/>
          </a:solidFill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mp8gxz43z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32" y="2219523"/>
            <a:ext cx="6489537" cy="292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2132" y="5248473"/>
            <a:ext cx="651751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Q2 FY2021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1679" y="5248473"/>
            <a:ext cx="651751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Q2 FY2022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3307" y="2098873"/>
            <a:ext cx="4000399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8A6526"/>
                </a:solidFill>
                <a:latin typeface="Helvetica Neue"/>
              </a:rPr>
              <a:t>SO WHAT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654" y="2302073"/>
            <a:ext cx="3867053" cy="3625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2A3B52"/>
                </a:solidFill>
                <a:latin typeface="Helvetica Neue"/>
              </a:rPr>
              <a:t>Mobile net revenue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grew 89% year over year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, the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fastest-growing platform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in the quarter.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3307" y="2302073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6654" y="2766218"/>
            <a:ext cx="3867053" cy="3561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2A3B52"/>
                </a:solidFill>
                <a:latin typeface="Helvetica Neue"/>
              </a:rPr>
              <a:t>Growth was led by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Social Point's live-service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mobile portfolio and continued in-game spending.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3307" y="2766218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6654" y="3224014"/>
            <a:ext cx="3867053" cy="3561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49" b="0" i="0">
                <a:solidFill>
                  <a:srgbClr val="2A3B52"/>
                </a:solidFill>
                <a:latin typeface="Helvetica Neue"/>
              </a:rPr>
              <a:t>Mobile </a:t>
            </a:r>
            <a:r>
              <a:rPr sz="949" b="1" i="0">
                <a:solidFill>
                  <a:srgbClr val="0E1B2C"/>
                </a:solidFill>
                <a:latin typeface="Helvetica Neue"/>
              </a:rPr>
              <a:t>deepens the recurrent-revenue mix</a:t>
            </a:r>
            <a:r>
              <a:rPr sz="949" b="0" i="0">
                <a:solidFill>
                  <a:srgbClr val="2A3B52"/>
                </a:solidFill>
                <a:latin typeface="Helvetica Neue"/>
              </a:rPr>
              <a:t> and broadens reach beyond console and PC.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3307" y="3224014"/>
            <a:ext cx="44448" cy="44449"/>
          </a:xfrm>
          <a:prstGeom prst="roundRect">
            <a:avLst>
              <a:gd name="adj" fmla="val 50000"/>
            </a:avLst>
          </a:prstGeom>
          <a:solidFill>
            <a:srgbClr val="B8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987" y="6113859"/>
            <a:ext cx="11175720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¹ Mobile is reported within the "PC and other" platform line in the 10-Q. ² Growth computed on reported mobile net revenue: ($115M − $61M) / $61M ≈ 89%.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987" y="6302375"/>
            <a:ext cx="11175720" cy="2127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5A6B7E"/>
                </a:solidFill>
                <a:latin typeface="Helvetica Neue"/>
              </a:rPr>
              <a:t>Source: Q2 FY2022 Form 10-Q. Mobile is reported within "PC and other."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987" y="6597650"/>
            <a:ext cx="2860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E1B2C"/>
                </a:solidFill>
                <a:latin typeface="Helvetica Neue"/>
              </a:rPr>
              <a:t>TAKE-TWO INTERACTIVE</a:t>
            </a:r>
            <a:r>
              <a:rPr sz="800" b="1" i="0">
                <a:solidFill>
                  <a:srgbClr val="5A6B7E"/>
                </a:solidFill>
                <a:latin typeface="Helvetica Neue"/>
              </a:rPr>
              <a:t> · FINANCIAL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9103" y="6597650"/>
            <a:ext cx="404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0">
            <a:gsLst>
              <a:gs pos="0">
                <a:srgbClr val="B8893A"/>
              </a:gs>
              <a:gs pos="50000">
                <a:srgbClr val="8A6526"/>
              </a:gs>
              <a:gs pos="100000">
                <a:srgbClr val="0E1B2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5974" y="2085379"/>
            <a:ext cx="10159746" cy="1714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1" i="0">
                <a:solidFill>
                  <a:srgbClr val="8A6526"/>
                </a:solidFill>
                <a:latin typeface="Helvetica Neue"/>
              </a:rPr>
              <a:t>MANAGEMENT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2231429"/>
            <a:ext cx="10159746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200" b="0" i="0">
                <a:solidFill>
                  <a:srgbClr val="B8893A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974" y="3056929"/>
            <a:ext cx="9524761" cy="12267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199" b="1" i="0">
                <a:solidFill>
                  <a:srgbClr val="0E1B2C"/>
                </a:solidFill>
                <a:latin typeface="Georgia"/>
              </a:rPr>
              <a:t>We are entering our </a:t>
            </a:r>
            <a:r>
              <a:rPr sz="4199" b="1" i="1">
                <a:solidFill>
                  <a:srgbClr val="8A6526"/>
                </a:solidFill>
                <a:latin typeface="Georgia"/>
              </a:rPr>
              <a:t>strongest development pipeline</a:t>
            </a:r>
            <a:r>
              <a:rPr sz="4199" b="1" i="0">
                <a:solidFill>
                  <a:srgbClr val="0E1B2C"/>
                </a:solidFill>
                <a:latin typeface="Georgia"/>
              </a:rPr>
              <a:t> ever.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974" y="4537670"/>
            <a:ext cx="10159746" cy="28574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99" b="1" i="0">
                <a:solidFill>
                  <a:srgbClr val="2A3B52"/>
                </a:solidFill>
                <a:latin typeface="Helvetica Neue"/>
              </a:rPr>
              <a:t>— Strauss Zelnick, </a:t>
            </a:r>
            <a:r>
              <a:rPr sz="1499" b="0" i="0">
                <a:solidFill>
                  <a:srgbClr val="5A6B7E"/>
                </a:solidFill>
                <a:latin typeface="Helvetica Neue"/>
              </a:rPr>
              <a:t>Chairman &amp; CEO, on Take-Two's multi-year slate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5974" y="6311900"/>
            <a:ext cx="10159746" cy="228600"/>
          </a:xfrm>
          <a:prstGeom prst="rect">
            <a:avLst/>
          </a:prstGeom>
          <a:noFill/>
          <a:ln w="6350"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5974" y="6432549"/>
            <a:ext cx="2860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0E1B2C"/>
                </a:solidFill>
                <a:latin typeface="Helvetica Neue"/>
              </a:rPr>
              <a:t>TAKE-TWO INTERACTIVE</a:t>
            </a:r>
            <a:r>
              <a:rPr sz="800" b="1" i="0">
                <a:solidFill>
                  <a:srgbClr val="5A6B7E"/>
                </a:solidFill>
                <a:latin typeface="Helvetica Neue"/>
              </a:rPr>
              <a:t> · FINANCIAL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71116" y="6432549"/>
            <a:ext cx="404603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 i="0">
                <a:solidFill>
                  <a:srgbClr val="5A6B7E"/>
                </a:solidFill>
                <a:latin typeface="Helvetica Neue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rotWithShape="0">
            <a:gsLst>
              <a:gs pos="0">
                <a:srgbClr val="B8893A"/>
              </a:gs>
              <a:gs pos="100000">
                <a:srgbClr val="8A6526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8977" y="1330324"/>
            <a:ext cx="10413739" cy="1714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99" b="1" i="0">
                <a:solidFill>
                  <a:srgbClr val="B8893A"/>
                </a:solidFill>
                <a:latin typeface="Helvetica Neue"/>
              </a:rPr>
              <a:t>CLOSING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977" y="1603375"/>
            <a:ext cx="9524761" cy="11521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199" b="1" i="0">
                <a:solidFill>
                  <a:srgbClr val="FBF6E9"/>
                </a:solidFill>
                <a:latin typeface="Georgia"/>
              </a:rPr>
              <a:t>A record year and a deliberate investment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977" y="3225403"/>
            <a:ext cx="444488" cy="400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99" b="1" i="0">
                <a:solidFill>
                  <a:srgbClr val="B8893A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8562" y="3225403"/>
            <a:ext cx="8915177" cy="462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99" b="1" i="0">
                <a:solidFill>
                  <a:srgbClr val="FBF6E9"/>
                </a:solidFill>
                <a:latin typeface="Helvetica Neue"/>
              </a:rPr>
              <a:t>FY2021 delivered record results</a:t>
            </a:r>
            <a:r>
              <a:rPr sz="1299" b="0" i="0">
                <a:solidFill>
                  <a:srgbClr val="E7DCC3"/>
                </a:solidFill>
                <a:latin typeface="Helvetica Neue"/>
              </a:rPr>
              <a:t> — revenue of $3.37B, net income of $589M, and expanded margins, on a model now </a:t>
            </a:r>
            <a:r>
              <a:rPr sz="1299" b="1" i="0">
                <a:solidFill>
                  <a:srgbClr val="FBF6E9"/>
                </a:solidFill>
                <a:latin typeface="Helvetica Neue"/>
              </a:rPr>
              <a:t>majority-recurrent</a:t>
            </a:r>
            <a:r>
              <a:rPr sz="1299" b="0" i="0">
                <a:solidFill>
                  <a:srgbClr val="E7DCC3"/>
                </a:solidFill>
                <a:latin typeface="Helvetica Neue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977" y="4163814"/>
            <a:ext cx="444488" cy="400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99" b="1" i="0">
                <a:solidFill>
                  <a:srgbClr val="B8893A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8562" y="4163814"/>
            <a:ext cx="8915177" cy="462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99" b="0" i="0">
                <a:solidFill>
                  <a:srgbClr val="E7DCC3"/>
                </a:solidFill>
                <a:latin typeface="Helvetica Neue"/>
              </a:rPr>
              <a:t>The </a:t>
            </a:r>
            <a:r>
              <a:rPr sz="1299" b="1" i="0">
                <a:solidFill>
                  <a:srgbClr val="FBF6E9"/>
                </a:solidFill>
                <a:latin typeface="Helvetica Neue"/>
              </a:rPr>
              <a:t>balance sheet — $2.7B in cash and investments, $912M operating cash flow</a:t>
            </a:r>
            <a:r>
              <a:rPr sz="1299" b="0" i="0">
                <a:solidFill>
                  <a:srgbClr val="E7DCC3"/>
                </a:solidFill>
                <a:latin typeface="Helvetica Neue"/>
              </a:rPr>
              <a:t> — funds growth internally without external dependence.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977" y="5102225"/>
            <a:ext cx="444488" cy="400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99" b="1" i="0">
                <a:solidFill>
                  <a:srgbClr val="B8893A"/>
                </a:solidFill>
                <a:latin typeface="Georg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8562" y="5102225"/>
            <a:ext cx="8036517" cy="24764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99" b="1" i="0">
                <a:solidFill>
                  <a:srgbClr val="FBF6E9"/>
                </a:solidFill>
                <a:latin typeface="Helvetica Neue"/>
              </a:rPr>
              <a:t>H1 FY2022 reflects deliberate investment</a:t>
            </a:r>
            <a:r>
              <a:rPr sz="1299" b="0" i="0">
                <a:solidFill>
                  <a:srgbClr val="E7DCC3"/>
                </a:solidFill>
                <a:latin typeface="Helvetica Neue"/>
              </a:rPr>
              <a:t> ahead of the strongest development pipeline in company history.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7955" y="6045200"/>
            <a:ext cx="8635784" cy="368299"/>
          </a:xfrm>
          <a:prstGeom prst="rect">
            <a:avLst/>
          </a:prstGeom>
          <a:noFill/>
          <a:ln w="6350">
            <a:solidFill>
              <a:srgbClr val="B8893A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7955" y="6191250"/>
            <a:ext cx="4640543" cy="28574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99" b="0" i="0">
                <a:solidFill>
                  <a:srgbClr val="FBF6E9"/>
                </a:solidFill>
                <a:latin typeface="Georgia"/>
              </a:rPr>
              <a:t>Take-Two Interactive Software, Inc. · </a:t>
            </a:r>
            <a:r>
              <a:rPr sz="1499" b="1" i="0">
                <a:solidFill>
                  <a:srgbClr val="B8893A"/>
                </a:solidFill>
                <a:latin typeface="Georgia"/>
              </a:rPr>
              <a:t>Nasdaq: TTWO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6686" y="6299200"/>
            <a:ext cx="487052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8A7A55"/>
                </a:solidFill>
                <a:latin typeface="Helvetica Neue"/>
              </a:rPr>
              <a:t>15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977" y="6603999"/>
            <a:ext cx="10413739" cy="152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8A7A55"/>
                </a:solidFill>
                <a:latin typeface="Helvetica Neue"/>
              </a:rPr>
              <a:t>Source: FY2021 10-K; Q2 FY2022 earnings release.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