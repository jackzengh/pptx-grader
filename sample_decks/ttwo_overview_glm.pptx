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ln w="41275">
              <a:solidFill>
                <a:srgbClr val="E86A12"/>
              </a:solidFill>
            </a:ln>
          </c:spPr>
          <c:marker>
            <c:symbol val="circle"/>
            <c:size val="7"/>
            <c:spPr>
              <a:solidFill>
                <a:srgbClr val="E86A12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FY2017</c:v>
                </c:pt>
                <c:pt idx="1">
                  <c:v>FY2018</c:v>
                </c:pt>
                <c:pt idx="2">
                  <c:v>FY2019</c:v>
                </c:pt>
                <c:pt idx="3">
                  <c:v>FY2020</c:v>
                </c:pt>
                <c:pt idx="4">
                  <c:v>FY2021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E86A12"/>
            </a:solidFill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3A5A7A"/>
            </a:solidFill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solidFill>
              <a:srgbClr val="B0B8C4"/>
            </a:solidFill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1704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E86A12"/>
            </a:solidFill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2075</c:v>
                </c:pt>
                <c:pt idx="1">
                  <c:v>1298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dPt>
            <c:idx val="0"/>
            <c:spPr>
              <a:solidFill>
                <a:srgbClr val="E86A12"/>
              </a:solidFill>
            </c:spPr>
          </c:dPt>
          <c:dPt>
            <c:idx val="1"/>
            <c:spPr>
              <a:solidFill>
                <a:srgbClr val="3A5A7A"/>
              </a:solidFill>
            </c:spPr>
          </c:dPt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</c:v>
                </c:pt>
              </c:strCache>
            </c:strRef>
          </c:tx>
          <c:spPr>
            <a:solidFill>
              <a:srgbClr val="E86A12"/>
            </a:solidFill>
          </c:spPr>
          <c:cat>
            <c:strRef>
              <c:f>Sheet1!$A$2:$A$3</c:f>
              <c:strCache>
                <c:ptCount val="2"/>
                <c:pt idx="0">
                  <c:v>Q2 FY2021</c:v>
                </c:pt>
                <c:pt idx="1">
                  <c:v>Q2 FY2022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1A1A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2121408"/>
            <a:ext cx="0" cy="786383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201168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6F2EA"/>
                </a:solidFill>
                <a:latin typeface="Georgia"/>
              </a:rPr>
              <a:t>The Financial Story of Take-Two Interactive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77240" y="32461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i="1">
                <a:solidFill>
                  <a:srgbClr val="F2C94E"/>
                </a:solidFill>
                <a:latin typeface="Georgia"/>
              </a:rPr>
              <a:t>Fiscal year ended March 31, 2021, and the six months ended September 30, 2021</a:t>
            </a:r>
          </a:p>
        </p:txBody>
      </p:sp>
      <p:sp>
        <p:nvSpPr>
          <p:cNvPr id="5" name="body_cover"/>
          <p:cNvSpPr txBox="1"/>
          <p:nvPr/>
        </p:nvSpPr>
        <p:spPr>
          <a:xfrm>
            <a:off x="777240" y="3977639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F6F2EA"/>
                </a:solidFill>
                <a:latin typeface="Calibri"/>
              </a:rPr>
              <a:t>Record fiscal 2021 results and the first half of fiscal 2022 — a publisher of owned, iconic franchises (Nasdaq: TTWO)</a:t>
            </a:r>
          </a:p>
        </p:txBody>
      </p:sp>
      <p:sp>
        <p:nvSpPr>
          <p:cNvPr id="6" name="footer_ticker"/>
          <p:cNvSpPr txBox="1"/>
          <p:nvPr/>
        </p:nvSpPr>
        <p:spPr>
          <a:xfrm>
            <a:off x="777240" y="58521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Take-Two Interactive Software, Inc.  ·  Nasdaq: TTWO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Context for this overview</a:t>
            </a:r>
          </a:p>
        </p:txBody>
      </p:sp>
      <p:sp>
        <p:nvSpPr>
          <p:cNvPr id="4" name="body_what"/>
          <p:cNvSpPr txBox="1"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What this covers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This overview summarizes Take-Two's financial performance across revenue, profitability, revenue mix, and capital position.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It draws on three lenses: the multi-year growth trend, the FY2021 record year in detail, and the early-FY2022 trajectory.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All figures are as reported in SEC filings; net bookings is the company's key operational (non-GAAP) metric, shown alongside GAAP net revenue.</a:t>
            </a:r>
          </a:p>
        </p:txBody>
      </p:sp>
      <p:sp>
        <p:nvSpPr>
          <p:cNvPr id="5" name="body_built"/>
          <p:cNvSpPr txBox="1"/>
          <p:nvPr/>
        </p:nvSpPr>
        <p:spPr>
          <a:xfrm>
            <a:off x="6355080" y="173736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How Take-Two is built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Five publishing labels: Rockstar Games, 2K, Private Division, Social Point, and Playdots.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27 proprietary franchises, internally owned across action, sports, strategy, and mobile genres.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Grand Theft Auto is the cornerstone IP — GTA V alone has sold over 155 million units since launch.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6,495 full-time employees as of March 31, 2021, with 77% in product development.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Take-Two FY2021 Form 10-K; Q2 FY2022 earnings release &amp; Form 10-Q.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Fiscal 2021 set company records across every headline metric</a:t>
            </a:r>
          </a:p>
        </p:txBody>
      </p:sp>
      <p:sp>
        <p:nvSpPr>
          <p:cNvPr id="4" name="card_net_revenue"/>
          <p:cNvSpPr/>
          <p:nvPr/>
        </p:nvSpPr>
        <p:spPr>
          <a:xfrm>
            <a:off x="7772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$3,373M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Net Revenue</a:t>
            </a:r>
          </a:p>
        </p:txBody>
      </p:sp>
      <p:sp>
        <p:nvSpPr>
          <p:cNvPr id="5" name="card_net_income"/>
          <p:cNvSpPr/>
          <p:nvPr/>
        </p:nvSpPr>
        <p:spPr>
          <a:xfrm>
            <a:off x="35204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$589M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Net Income</a:t>
            </a:r>
          </a:p>
        </p:txBody>
      </p:sp>
      <p:sp>
        <p:nvSpPr>
          <p:cNvPr id="6" name="card_diluted_eps"/>
          <p:cNvSpPr/>
          <p:nvPr/>
        </p:nvSpPr>
        <p:spPr>
          <a:xfrm>
            <a:off x="62636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$5.09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Diluted EPS</a:t>
            </a:r>
          </a:p>
        </p:txBody>
      </p:sp>
      <p:sp>
        <p:nvSpPr>
          <p:cNvPr id="7" name="card_net_bookings"/>
          <p:cNvSpPr/>
          <p:nvPr/>
        </p:nvSpPr>
        <p:spPr>
          <a:xfrm>
            <a:off x="90068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$3,553M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Net Bookings</a:t>
            </a:r>
          </a:p>
        </p:txBody>
      </p:sp>
      <p:sp>
        <p:nvSpPr>
          <p:cNvPr id="8" name="body_kpis"/>
          <p:cNvSpPr txBox="1"/>
          <p:nvPr/>
        </p:nvSpPr>
        <p:spPr>
          <a:xfrm>
            <a:off x="777240" y="361188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Net revenue rose 9% year over year to a company record $3.37 billion.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Net income grew 46% to $589 million, the highest in company history.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Net bookings — the forward-looking demand metric — reached $3.55 billion, up 19%.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Consolidated Statements of Operations; FY2021 earnings release (Net Bookings).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Net revenue has grown every year, up 26% over three years to a record $3.4B</a:t>
            </a:r>
          </a:p>
        </p:txBody>
      </p:sp>
      <p:sp>
        <p:nvSpPr>
          <p:cNvPr id="4" name="caption_chart_revenue"/>
          <p:cNvSpPr txBox="1"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revenue, fiscal years ended March 31 ($M)</a:t>
            </a:r>
          </a:p>
        </p:txBody>
      </p:sp>
      <p:graphicFrame>
        <p:nvGraphicFramePr>
          <p:cNvPr id="5" name="chart_revenue"/>
          <p:cNvGraphicFramePr>
            <a:graphicFrameLocks noGrp="1"/>
          </p:cNvGraphicFramePr>
          <p:nvPr/>
        </p:nvGraphicFramePr>
        <p:xfrm>
          <a:off x="777240" y="2240280"/>
          <a:ext cx="6400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revenue"/>
          <p:cNvSpPr txBox="1"/>
          <p:nvPr/>
        </p:nvSpPr>
        <p:spPr>
          <a:xfrm>
            <a:off x="7543800" y="2240280"/>
            <a:ext cx="3840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Five straight years of top-line expansion, accelerating sharply from FY2019 onward.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FY2021's $3.37B is an all-time high, +9% over FY2020 and +26% over FY2019.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Growth has been driven by the shift to recurrent consumer spending (see next section).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 (FY2019–FY2021 exact); stockanalysis.com (FY2017–FY2018). Net revenue is GAAP; differs from net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Margins expanded sharply: gross margin reached 54.5% and operating margin 18.7%</a:t>
            </a:r>
          </a:p>
        </p:txBody>
      </p:sp>
      <p:sp>
        <p:nvSpPr>
          <p:cNvPr id="4" name="caption_chart_margins"/>
          <p:cNvSpPr txBox="1"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Gross margin and operating margin, FY2019–FY2021 (% of net revenue)</a:t>
            </a:r>
          </a:p>
        </p:txBody>
      </p:sp>
      <p:graphicFrame>
        <p:nvGraphicFramePr>
          <p:cNvPr id="5" name="chart_margins"/>
          <p:cNvGraphicFramePr>
            <a:graphicFrameLocks noGrp="1"/>
          </p:cNvGraphicFramePr>
          <p:nvPr/>
        </p:nvGraphicFramePr>
        <p:xfrm>
          <a:off x="777240" y="2240280"/>
          <a:ext cx="6400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margins"/>
          <p:cNvSpPr txBox="1"/>
          <p:nvPr/>
        </p:nvSpPr>
        <p:spPr>
          <a:xfrm>
            <a:off x="7543800" y="2240280"/>
            <a:ext cx="3840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Gross margin climbed nearly 12 points in two years as higher-margin digital and recurrent revenue grew.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Income from operations more than tripled, from $207M (FY2019) to $629M (FY2021).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Net income margin reached 17.5% in FY2021, up from 12.5% in FY2019.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Statements of Operations. Margins computed on GAAP net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Recurrent consumer spending became the majority of revenue, flipping the model</a:t>
            </a:r>
          </a:p>
        </p:txBody>
      </p:sp>
      <p:sp>
        <p:nvSpPr>
          <p:cNvPr id="4" name="caption_chart_mix"/>
          <p:cNvSpPr txBox="1"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 by type, FY2020 vs FY2021 ($M)</a:t>
            </a:r>
          </a:p>
        </p:txBody>
      </p:sp>
      <p:graphicFrame>
        <p:nvGraphicFramePr>
          <p:cNvPr id="5" name="chart_mix"/>
          <p:cNvGraphicFramePr>
            <a:graphicFrameLocks noGrp="1"/>
          </p:cNvGraphicFramePr>
          <p:nvPr/>
        </p:nvGraphicFramePr>
        <p:xfrm>
          <a:off x="777240" y="2240280"/>
          <a:ext cx="6400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mix"/>
          <p:cNvSpPr txBox="1"/>
          <p:nvPr/>
        </p:nvSpPr>
        <p:spPr>
          <a:xfrm>
            <a:off x="7543800" y="2240280"/>
            <a:ext cx="3840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RCS grew 50% year over year and became the majority of revenue for the first time.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RCS reached 62% of net revenue in FY2021 (and 63% of net bookings), up from 45% a year earlier.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The shift de-risks the model: revenue is increasingly recurring rather than tied to new-title launches.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net revenue by type. RCS = recurrent consumer spending (in-game purchases, virtual currency, add-on content).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Revenue is overwhelmingly digital and led by the U.S., with 40% from abroad</a:t>
            </a:r>
          </a:p>
        </p:txBody>
      </p:sp>
      <p:sp>
        <p:nvSpPr>
          <p:cNvPr id="4" name="caption_table_channel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 by distribution channel, FY2021</a:t>
            </a:r>
          </a:p>
        </p:txBody>
      </p:sp>
      <p:graphicFrame>
        <p:nvGraphicFramePr>
          <p:cNvPr id="5" name="table_table_channel"/>
          <p:cNvGraphicFramePr>
            <a:graphicFrameLocks noGrp="1"/>
          </p:cNvGraphicFramePr>
          <p:nvPr/>
        </p:nvGraphicFramePr>
        <p:xfrm>
          <a:off x="777240" y="2240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28016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FY2021 ($M)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Digital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Physical retail &amp;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ption_table_geo"/>
          <p:cNvSpPr txBox="1"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 by geography, FY2020–FY2021</a:t>
            </a:r>
          </a:p>
        </p:txBody>
      </p:sp>
      <p:graphicFrame>
        <p:nvGraphicFramePr>
          <p:cNvPr id="7" name="table_table_geo"/>
          <p:cNvGraphicFramePr>
            <a:graphicFrameLocks noGrp="1"/>
          </p:cNvGraphicFramePr>
          <p:nvPr/>
        </p:nvGraphicFramePr>
        <p:xfrm>
          <a:off x="6355080" y="2240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Geography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FY2020 ($M)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FY2021 ($M)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ody_channel"/>
          <p:cNvSpPr txBox="1"/>
          <p:nvPr/>
        </p:nvSpPr>
        <p:spPr>
          <a:xfrm>
            <a:off x="777240" y="425196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Digital delivery reached 86.6% of net revenue (87% of net bookings), up from 63% just two years earlier.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The U.S. drove growth at +14%; international held 40% of revenue, with Asia ~7% of net bookings — a stated expansion opportunity.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net revenue by distribution channel and by geography.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Console anchors the business while PC and mobile broaden the base</a:t>
            </a:r>
          </a:p>
        </p:txBody>
      </p:sp>
      <p:sp>
        <p:nvSpPr>
          <p:cNvPr id="4" name="caption_chart_platform"/>
          <p:cNvSpPr txBox="1"/>
          <p:nvPr/>
        </p:nvSpPr>
        <p:spPr>
          <a:xfrm>
            <a:off x="77724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FY2021 net revenue by platform ($M)</a:t>
            </a:r>
          </a:p>
        </p:txBody>
      </p:sp>
      <p:graphicFrame>
        <p:nvGraphicFramePr>
          <p:cNvPr id="5" name="chart_platform"/>
          <p:cNvGraphicFramePr>
            <a:graphicFrameLocks noGrp="1"/>
          </p:cNvGraphicFramePr>
          <p:nvPr/>
        </p:nvGraphicFramePr>
        <p:xfrm>
          <a:off x="777240" y="2240280"/>
          <a:ext cx="5486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platform"/>
          <p:cNvSpPr txBox="1"/>
          <p:nvPr/>
        </p:nvSpPr>
        <p:spPr>
          <a:xfrm>
            <a:off x="6629400" y="224028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Console delivered 75% of FY2021 net revenue, led by the GTA and NBA 2K franchises.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PC and other contributed $856M (25%), including a growing mobile and PC-digital base.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Grand Theft Auto products alone represented 29.2% of total net revenue.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net revenue by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A fortress balance sheet: $2.7B in cash and investments funds the pipeline</a:t>
            </a:r>
          </a:p>
        </p:txBody>
      </p:sp>
      <p:sp>
        <p:nvSpPr>
          <p:cNvPr id="4" name="card_cash"/>
          <p:cNvSpPr/>
          <p:nvPr/>
        </p:nvSpPr>
        <p:spPr>
          <a:xfrm>
            <a:off x="7772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$1,423M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Cash &amp; Equivalents</a:t>
            </a:r>
          </a:p>
        </p:txBody>
      </p:sp>
      <p:sp>
        <p:nvSpPr>
          <p:cNvPr id="5" name="card_sti"/>
          <p:cNvSpPr/>
          <p:nvPr/>
        </p:nvSpPr>
        <p:spPr>
          <a:xfrm>
            <a:off x="35204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$1,309M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Short-Term Investments</a:t>
            </a:r>
          </a:p>
        </p:txBody>
      </p:sp>
      <p:sp>
        <p:nvSpPr>
          <p:cNvPr id="6" name="card_ocf"/>
          <p:cNvSpPr/>
          <p:nvPr/>
        </p:nvSpPr>
        <p:spPr>
          <a:xfrm>
            <a:off x="62636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$912M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Operating Cash Flow</a:t>
            </a:r>
          </a:p>
        </p:txBody>
      </p:sp>
      <p:sp>
        <p:nvSpPr>
          <p:cNvPr id="7" name="card_equity"/>
          <p:cNvSpPr/>
          <p:nvPr/>
        </p:nvSpPr>
        <p:spPr>
          <a:xfrm>
            <a:off x="90068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$3,332M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Stockholders' Equity</a:t>
            </a:r>
          </a:p>
        </p:txBody>
      </p:sp>
      <p:sp>
        <p:nvSpPr>
          <p:cNvPr id="8" name="body_balance"/>
          <p:cNvSpPr txBox="1"/>
          <p:nvPr/>
        </p:nvSpPr>
        <p:spPr>
          <a:xfrm>
            <a:off x="777240" y="361188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Take-Two held $2.7 billion in cash and short-term investments at fiscal year-end, against modest liabilities.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Operating cash flow rose 33% to $912 million, funding development of the multi-year slate internally.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Total assets were $6.0 billion with $3.3 billion of stockholders' equity — ample capacity for content investment and M&amp;A.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FY2021 10-K, Balance Sheet and Statement of Cash 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230428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21945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6F2EA"/>
                </a:solidFill>
                <a:latin typeface="Georgia"/>
              </a:rPr>
              <a:t>Part Two: The first half of fiscal 2022</a:t>
            </a:r>
          </a:p>
        </p:txBody>
      </p:sp>
      <p:sp>
        <p:nvSpPr>
          <p:cNvPr id="4" name="background_panel"/>
          <p:cNvSpPr/>
          <p:nvPr/>
        </p:nvSpPr>
        <p:spPr>
          <a:xfrm>
            <a:off x="8961120" y="2286000"/>
            <a:ext cx="2286000" cy="2926080"/>
          </a:xfrm>
          <a:prstGeom prst="roundRect">
            <a:avLst/>
          </a:prstGeom>
          <a:solidFill>
            <a:srgbClr val="E8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_section"/>
          <p:cNvSpPr txBox="1"/>
          <p:nvPr/>
        </p:nvSpPr>
        <p:spPr>
          <a:xfrm>
            <a:off x="777240" y="384048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i="1">
                <a:solidFill>
                  <a:srgbClr val="F2C94E"/>
                </a:solidFill>
                <a:latin typeface="Georgia"/>
              </a:rPr>
              <a:t>Investing through a transition year while recurrent spending deepens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Q2 FY2022 revenue held steady as the company invested for its largest-ever pipeline</a:t>
            </a:r>
          </a:p>
        </p:txBody>
      </p:sp>
      <p:sp>
        <p:nvSpPr>
          <p:cNvPr id="4" name="card_q2_rev"/>
          <p:cNvSpPr/>
          <p:nvPr/>
        </p:nvSpPr>
        <p:spPr>
          <a:xfrm>
            <a:off x="7772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$858M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Q2 Net Revenue</a:t>
            </a:r>
          </a:p>
        </p:txBody>
      </p:sp>
      <p:sp>
        <p:nvSpPr>
          <p:cNvPr id="5" name="card_q2_op"/>
          <p:cNvSpPr/>
          <p:nvPr/>
        </p:nvSpPr>
        <p:spPr>
          <a:xfrm>
            <a:off x="35204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$20M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Q2 Operating Income</a:t>
            </a:r>
          </a:p>
        </p:txBody>
      </p:sp>
      <p:sp>
        <p:nvSpPr>
          <p:cNvPr id="6" name="card_q2_eps"/>
          <p:cNvSpPr/>
          <p:nvPr/>
        </p:nvSpPr>
        <p:spPr>
          <a:xfrm>
            <a:off x="62636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$0.09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Q2 Diluted EPS</a:t>
            </a:r>
          </a:p>
        </p:txBody>
      </p:sp>
      <p:sp>
        <p:nvSpPr>
          <p:cNvPr id="7" name="card_q2_book"/>
          <p:cNvSpPr/>
          <p:nvPr/>
        </p:nvSpPr>
        <p:spPr>
          <a:xfrm>
            <a:off x="9006840" y="1737360"/>
            <a:ext cx="2377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>
            <a:spAutoFit/>
          </a:bodyPr>
          <a:lstStyle/>
          <a:p>
            <a:pPr algn="l"/>
            <a:r>
              <a:rPr sz="3000" b="1">
                <a:solidFill>
                  <a:srgbClr val="E86A12"/>
                </a:solidFill>
                <a:latin typeface="Calibri"/>
              </a:rPr>
              <a:t>$985M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B7280"/>
                </a:solidFill>
                <a:latin typeface="Calibri"/>
              </a:rPr>
              <a:t>Q2 Net Bookings</a:t>
            </a:r>
          </a:p>
        </p:txBody>
      </p:sp>
      <p:sp>
        <p:nvSpPr>
          <p:cNvPr id="8" name="body_q2"/>
          <p:cNvSpPr txBox="1"/>
          <p:nvPr/>
        </p:nvSpPr>
        <p:spPr>
          <a:xfrm>
            <a:off x="777240" y="361188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Net bookings grew 3% to $985M; recurrent consumer spending rose to 69% of net bookings.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Operating income was $20M (down from $115M a year earlier) as Take-Two stepped up investment in development.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Gross margin was 46.8%; the quarter reflects a deliberate build-up ahead of a record forward slate.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Q2 FY2022 earnings release and Form 10-Q (quarter ended September 30, 2021).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In Q2, digital and recurrent spending deepened across both geography and channel</a:t>
            </a:r>
          </a:p>
        </p:txBody>
      </p:sp>
      <p:sp>
        <p:nvSpPr>
          <p:cNvPr id="4" name="caption_table_q2geo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 by geography, Q2 FY2022</a:t>
            </a:r>
          </a:p>
        </p:txBody>
      </p:sp>
      <p:graphicFrame>
        <p:nvGraphicFramePr>
          <p:cNvPr id="5" name="table_table_q2geo"/>
          <p:cNvGraphicFramePr>
            <a:graphicFrameLocks noGrp="1"/>
          </p:cNvGraphicFramePr>
          <p:nvPr/>
        </p:nvGraphicFramePr>
        <p:xfrm>
          <a:off x="777240" y="2240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28016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Geography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Q2 FY22 ($M)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ption_table_q2chan"/>
          <p:cNvSpPr txBox="1"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Net revenue by channel, Q2 FY2022</a:t>
            </a:r>
          </a:p>
        </p:txBody>
      </p:sp>
      <p:graphicFrame>
        <p:nvGraphicFramePr>
          <p:cNvPr id="7" name="table_table_q2chan"/>
          <p:cNvGraphicFramePr>
            <a:graphicFrameLocks noGrp="1"/>
          </p:cNvGraphicFramePr>
          <p:nvPr/>
        </p:nvGraphicFramePr>
        <p:xfrm>
          <a:off x="6355080" y="2240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28016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Q2 FY22 ($M)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E86A12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Digital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Physical &amp;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ody_q2mix"/>
          <p:cNvSpPr txBox="1"/>
          <p:nvPr/>
        </p:nvSpPr>
        <p:spPr>
          <a:xfrm>
            <a:off x="777240" y="425196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Digital reached 91% of quarterly net revenue (89% of net bookings) — the structural shift continues.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The U.S./international split held near 60/40, consistent with the full-year FY2021 mix.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Q2 FY2022 earnings release (quarter ended September 30, 2021).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Georgia"/>
              </a:rPr>
              <a:t>Mobile net revenue nearly doubled, led by Social Point's live-service titles</a:t>
            </a:r>
          </a:p>
        </p:txBody>
      </p:sp>
      <p:sp>
        <p:nvSpPr>
          <p:cNvPr id="4" name="caption_chart_mobile"/>
          <p:cNvSpPr txBox="1"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E86A12"/>
                </a:solidFill>
                <a:latin typeface="Calibri"/>
              </a:rPr>
              <a:t>Mobile net revenue, Q2 FY2021 vs Q2 FY2022 ($M)</a:t>
            </a:r>
          </a:p>
        </p:txBody>
      </p:sp>
      <p:graphicFrame>
        <p:nvGraphicFramePr>
          <p:cNvPr id="5" name="chart_mobile"/>
          <p:cNvGraphicFramePr>
            <a:graphicFrameLocks noGrp="1"/>
          </p:cNvGraphicFramePr>
          <p:nvPr/>
        </p:nvGraphicFramePr>
        <p:xfrm>
          <a:off x="777240" y="2240280"/>
          <a:ext cx="5943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ody_mobile"/>
          <p:cNvSpPr txBox="1"/>
          <p:nvPr/>
        </p:nvSpPr>
        <p:spPr>
          <a:xfrm>
            <a:off x="7086600" y="224028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A12"/>
                </a:solidFill>
                <a:latin typeface="Calibri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Mobile net revenue grew 89% year over year, the fastest-growing platform in the quarter.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Growth was led by Social Point's live-service mobile portfolio and continued in-game spending.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Mobile deepens the recurrent-revenue mix and broadens reach beyond console and PC.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6B7280"/>
                </a:solidFill>
                <a:latin typeface="Calibri"/>
              </a:rPr>
              <a:t>Source: Q2 FY2022 Form 10-Q. Mobile is reported within 'PC and other.'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2578608"/>
            <a:ext cx="0" cy="786383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body_quote"/>
          <p:cNvSpPr txBox="1"/>
          <p:nvPr/>
        </p:nvSpPr>
        <p:spPr>
          <a:xfrm>
            <a:off x="777240" y="24688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i="1" b="1">
                <a:solidFill>
                  <a:srgbClr val="F6F2EA"/>
                </a:solidFill>
                <a:latin typeface="Georgia"/>
              </a:rPr>
              <a:t>“We are entering our strongest development pipeline ever.”</a:t>
            </a:r>
          </a:p>
        </p:txBody>
      </p:sp>
      <p:sp>
        <p:nvSpPr>
          <p:cNvPr id="4" name="body_attribution"/>
          <p:cNvSpPr txBox="1"/>
          <p:nvPr/>
        </p:nvSpPr>
        <p:spPr>
          <a:xfrm>
            <a:off x="777240" y="4709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F2C94E"/>
                </a:solidFill>
                <a:latin typeface="Calibri"/>
              </a:rPr>
              <a:t>— Strauss Zelnick, Chairman &amp; CEO, on Take-Two's multi-year slate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ccent_tab"/>
          <p:cNvCxnSpPr/>
          <p:nvPr/>
        </p:nvCxnSpPr>
        <p:spPr>
          <a:xfrm>
            <a:off x="594360" y="566928"/>
            <a:ext cx="0" cy="786384"/>
          </a:xfrm>
          <a:prstGeom prst="line">
            <a:avLst/>
          </a:prstGeom>
          <a:ln w="88900">
            <a:solidFill>
              <a:srgbClr val="E86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"/>
          <p:cNvSpPr txBox="1"/>
          <p:nvPr/>
        </p:nvSpPr>
        <p:spPr>
          <a:xfrm>
            <a:off x="777240" y="457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6F2EA"/>
                </a:solidFill>
                <a:latin typeface="Georgia"/>
              </a:rPr>
              <a:t>A record year and a deliberate investment phase</a:t>
            </a:r>
          </a:p>
        </p:txBody>
      </p:sp>
      <p:sp>
        <p:nvSpPr>
          <p:cNvPr id="4" name="body_close"/>
          <p:cNvSpPr txBox="1"/>
          <p:nvPr/>
        </p:nvSpPr>
        <p:spPr>
          <a:xfrm>
            <a:off x="777240" y="192024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6F2EA"/>
                </a:solidFill>
                <a:latin typeface="Calibri"/>
              </a:rPr>
              <a:t>•  FY2021 delivered record revenue ($3.37B), net income ($589M), and margins, on a model now majority-recurrent.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6F2EA"/>
                </a:solidFill>
                <a:latin typeface="Calibri"/>
              </a:rPr>
              <a:t>•  The balance sheet — $2.7B in cash and investments, $912M operating cash flow — funds growth internally.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6F2EA"/>
                </a:solidFill>
                <a:latin typeface="Calibri"/>
              </a:rPr>
              <a:t>•  H1 FY2022 reflects deliberate investment ahead of the strongest pipeline in company history.</a:t>
            </a:r>
          </a:p>
        </p:txBody>
      </p:sp>
      <p:sp>
        <p:nvSpPr>
          <p:cNvPr id="5" name="footer_ticker_close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86A12"/>
                </a:solidFill>
                <a:latin typeface="Calibri"/>
              </a:rPr>
              <a:t>Take-Two Interactive Software, Inc.  ·  Nasdaq: TTWO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B0B8C4"/>
                </a:solidFill>
                <a:latin typeface="Calibri"/>
              </a:rPr>
              <a:t>Source: FY2021 10-K; Q2 FY2022 earnings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