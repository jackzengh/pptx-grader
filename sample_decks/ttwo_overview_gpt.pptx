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rgbClr val="6D2E46"/>
            </a:solidFill>
            <a:ln w="38100">
              <a:solidFill>
                <a:srgbClr val="C42935"/>
              </a:solidFill>
            </a:ln>
          </c:spPr>
          <c:cat>
            <c:strRef>
              <c:f>Sheet1!$A$2:$A$6</c:f>
              <c:strCache>
                <c:ptCount val="5"/>
                <c:pt idx="0">
                  <c:v>FY2017</c:v>
                </c:pt>
                <c:pt idx="1">
                  <c:v>FY2018</c:v>
                </c:pt>
                <c:pt idx="2">
                  <c:v>FY2019</c:v>
                </c:pt>
                <c:pt idx="3">
                  <c:v>FY2020</c:v>
                </c:pt>
                <c:pt idx="4">
                  <c:v>FY2021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1780</c:v>
                </c:pt>
                <c:pt idx="1">
                  <c:v>1793</c:v>
                </c:pt>
                <c:pt idx="2">
                  <c:v>2668</c:v>
                </c:pt>
                <c:pt idx="3">
                  <c:v>3089</c:v>
                </c:pt>
                <c:pt idx="4">
                  <c:v>3373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5605D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DD3C5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5605D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</c:v>
                </c:pt>
              </c:strCache>
            </c:strRef>
          </c:tx>
          <c:spPr>
            <a:solidFill>
              <a:srgbClr val="6D2E46"/>
            </a:solidFill>
            <a:ln>
              <a:solidFill>
                <a:srgbClr val="6D2E46"/>
              </a:solidFill>
            </a:ln>
          </c:spPr>
          <c:cat>
            <c:strRef>
              <c:f>Sheet1!$A$2:$A$4</c:f>
              <c:strCache>
                <c:ptCount val="3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42.9</c:v>
                </c:pt>
                <c:pt idx="1">
                  <c:v>50.1</c:v>
                </c:pt>
                <c:pt idx="2">
                  <c:v>54.5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margin</c:v>
                </c:pt>
              </c:strCache>
            </c:strRef>
          </c:tx>
          <c:spPr>
            <a:solidFill>
              <a:srgbClr val="F2A541"/>
            </a:solidFill>
            <a:ln>
              <a:solidFill>
                <a:srgbClr val="F2A541"/>
              </a:solidFill>
            </a:ln>
          </c:spPr>
          <c:cat>
            <c:strRef>
              <c:f>Sheet1!$A$2:$A$4</c:f>
              <c:strCache>
                <c:ptCount val="3"/>
                <c:pt idx="0">
                  <c:v>FY2019</c:v>
                </c:pt>
                <c:pt idx="1">
                  <c:v>FY2020</c:v>
                </c:pt>
                <c:pt idx="2">
                  <c:v>FY2021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7.7</c:v>
                </c:pt>
                <c:pt idx="1">
                  <c:v>13.8</c:v>
                </c:pt>
                <c:pt idx="2">
                  <c:v>18.7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5605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D3C5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5605D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FY2020</c:v>
                </c:pt>
              </c:strCache>
            </c:strRef>
          </c:tx>
          <c:spPr>
            <a:solidFill>
              <a:srgbClr val="6D2E46"/>
            </a:solidFill>
            <a:ln>
              <a:solidFill>
                <a:srgbClr val="6D2E46"/>
              </a:solidFill>
            </a:ln>
          </c:spPr>
          <c:cat>
            <c:strRef>
              <c:f>Sheet1!$A$2:$A$3</c:f>
              <c:strCache>
                <c:ptCount val="2"/>
                <c:pt idx="0">
                  <c:v>RCS</c:v>
                </c:pt>
                <c:pt idx="1">
                  <c:v>Full game + 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1385</c:v>
                </c:pt>
                <c:pt idx="1">
                  <c:v>1704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FY2021</c:v>
                </c:pt>
              </c:strCache>
            </c:strRef>
          </c:tx>
          <c:spPr>
            <a:solidFill>
              <a:srgbClr val="F2A541"/>
            </a:solidFill>
            <a:ln>
              <a:solidFill>
                <a:srgbClr val="F2A541"/>
              </a:solidFill>
            </a:ln>
          </c:spPr>
          <c:cat>
            <c:strRef>
              <c:f>Sheet1!$A$2:$A$3</c:f>
              <c:strCache>
                <c:ptCount val="2"/>
                <c:pt idx="0">
                  <c:v>RCS</c:v>
                </c:pt>
                <c:pt idx="1">
                  <c:v>Full game + other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2075</c:v>
                </c:pt>
                <c:pt idx="1">
                  <c:v>1298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5605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D3C5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5605D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FY2021</c:v>
                </c:pt>
              </c:strCache>
            </c:strRef>
          </c:tx>
          <c:spPr>
            <a:solidFill>
              <a:srgbClr val="6D2E46"/>
            </a:solidFill>
            <a:ln>
              <a:solidFill>
                <a:srgbClr val="6D2E46"/>
              </a:solidFill>
            </a:ln>
          </c:spPr>
          <c:dPt>
            <c:idx val="0"/>
            <c:spPr>
              <a:solidFill>
                <a:srgbClr val="6D2E46"/>
              </a:solidFill>
            </c:spPr>
          </c:dPt>
          <c:dPt>
            <c:idx val="1"/>
            <c:spPr>
              <a:solidFill>
                <a:srgbClr val="F2A541"/>
              </a:solidFill>
            </c:spPr>
          </c:dPt>
          <c:cat>
            <c:strRef>
              <c:f>Sheet1!$A$2:$A$3</c:f>
              <c:strCache>
                <c:ptCount val="2"/>
                <c:pt idx="0">
                  <c:v>Console</c:v>
                </c:pt>
                <c:pt idx="1">
                  <c:v>PC and 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2517</c:v>
                </c:pt>
                <c:pt idx="1">
                  <c:v>856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Mobile net revenue</c:v>
                </c:pt>
              </c:strCache>
            </c:strRef>
          </c:tx>
          <c:spPr>
            <a:solidFill>
              <a:srgbClr val="6D2E46"/>
            </a:solidFill>
            <a:ln>
              <a:solidFill>
                <a:srgbClr val="6D2E46"/>
              </a:solidFill>
            </a:ln>
          </c:spPr>
          <c:cat>
            <c:strRef>
              <c:f>Sheet1!$A$2:$A$3</c:f>
              <c:strCache>
                <c:ptCount val="2"/>
                <c:pt idx="0">
                  <c:v>Q2 FY2021</c:v>
                </c:pt>
                <c:pt idx="1">
                  <c:v>Q2 FY2022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</c:v>
                </c:pt>
                <c:pt idx="1">
                  <c:v>115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5605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D3C5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5605D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71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ivider_motif_vertical_rail"/>
          <p:cNvCxnSpPr/>
          <p:nvPr/>
        </p:nvCxnSpPr>
        <p:spPr>
          <a:xfrm>
            <a:off x="493776" y="1298448"/>
            <a:ext cx="0" cy="4572000"/>
          </a:xfrm>
          <a:prstGeom prst="line">
            <a:avLst/>
          </a:prstGeom>
          <a:ln w="5080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ivider_motif_top_tick"/>
          <p:cNvCxnSpPr/>
          <p:nvPr/>
        </p:nvCxnSpPr>
        <p:spPr>
          <a:xfrm>
            <a:off x="374904" y="1143000"/>
            <a:ext cx="237744" cy="0"/>
          </a:xfrm>
          <a:prstGeom prst="line">
            <a:avLst/>
          </a:prstGeom>
          <a:ln w="50800">
            <a:solidFill>
              <a:srgbClr val="C42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"/>
          <p:cNvSpPr txBox="1"/>
          <p:nvPr/>
        </p:nvSpPr>
        <p:spPr>
          <a:xfrm>
            <a:off x="713232" y="411480"/>
            <a:ext cx="10607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Aptos Display"/>
              </a:rPr>
              <a:t>The Financial Story of Take-Two Interactive</a:t>
            </a:r>
          </a:p>
        </p:txBody>
      </p:sp>
      <p:sp>
        <p:nvSpPr>
          <p:cNvPr id="5" name="body_subtitle"/>
          <p:cNvSpPr txBox="1"/>
          <p:nvPr/>
        </p:nvSpPr>
        <p:spPr>
          <a:xfrm>
            <a:off x="713232" y="141732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E9DCCE"/>
                </a:solidFill>
                <a:latin typeface="Aptos"/>
              </a:rPr>
              <a:t>Record fiscal 2021 results and the first half of fiscal 2022 — a publisher of owned, iconic franchises (Nasdaq: TTWO)</a:t>
            </a:r>
          </a:p>
        </p:txBody>
      </p:sp>
      <p:sp>
        <p:nvSpPr>
          <p:cNvPr id="6" name="footer_source"/>
          <p:cNvSpPr txBox="1"/>
          <p:nvPr/>
        </p:nvSpPr>
        <p:spPr>
          <a:xfrm>
            <a:off x="713232" y="633679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C8BAAA"/>
                </a:solidFill>
                <a:latin typeface="Aptos"/>
              </a:rPr>
              <a:t>Fiscal year ended March 31, 2021, and the six months ended September 30, 2021</a:t>
            </a:r>
          </a:p>
        </p:txBody>
      </p:sp>
      <p:sp>
        <p:nvSpPr>
          <p:cNvPr id="7" name="card_cover_fy2021"/>
          <p:cNvSpPr/>
          <p:nvPr/>
        </p:nvSpPr>
        <p:spPr>
          <a:xfrm>
            <a:off x="713232" y="2926080"/>
            <a:ext cx="2514600" cy="1170432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F2A541"/>
                </a:solidFill>
                <a:latin typeface="Aptos Display"/>
              </a:rPr>
              <a:t>$3.37B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FY2021 NET REVENUE</a:t>
            </a:r>
          </a:p>
        </p:txBody>
      </p:sp>
      <p:sp>
        <p:nvSpPr>
          <p:cNvPr id="8" name="card_cover_cash"/>
          <p:cNvSpPr/>
          <p:nvPr/>
        </p:nvSpPr>
        <p:spPr>
          <a:xfrm>
            <a:off x="3502152" y="2926080"/>
            <a:ext cx="2514600" cy="1170432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5AB89A"/>
                </a:solidFill>
                <a:latin typeface="Aptos Display"/>
              </a:rPr>
              <a:t>$2.7B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CASH + INVESTMENTS</a:t>
            </a:r>
          </a:p>
        </p:txBody>
      </p:sp>
      <p:sp>
        <p:nvSpPr>
          <p:cNvPr id="9" name="card_cover_rcs"/>
          <p:cNvSpPr/>
          <p:nvPr/>
        </p:nvSpPr>
        <p:spPr>
          <a:xfrm>
            <a:off x="6291072" y="2926080"/>
            <a:ext cx="2514600" cy="1170432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C42935"/>
                </a:solidFill>
                <a:latin typeface="Aptos Display"/>
              </a:rPr>
              <a:t>62%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FY2021 RCS SHARE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ivider_motif_vertical_rail"/>
          <p:cNvCxnSpPr/>
          <p:nvPr/>
        </p:nvCxnSpPr>
        <p:spPr>
          <a:xfrm>
            <a:off x="493776" y="1298448"/>
            <a:ext cx="0" cy="4572000"/>
          </a:xfrm>
          <a:prstGeom prst="line">
            <a:avLst/>
          </a:prstGeom>
          <a:ln w="50800">
            <a:solidFill>
              <a:srgbClr val="6D2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ivider_motif_top_tick"/>
          <p:cNvCxnSpPr/>
          <p:nvPr/>
        </p:nvCxnSpPr>
        <p:spPr>
          <a:xfrm>
            <a:off x="374904" y="1143000"/>
            <a:ext cx="237744" cy="0"/>
          </a:xfrm>
          <a:prstGeom prst="line">
            <a:avLst/>
          </a:prstGeom>
          <a:ln w="5080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"/>
          <p:cNvSpPr txBox="1"/>
          <p:nvPr/>
        </p:nvSpPr>
        <p:spPr>
          <a:xfrm>
            <a:off x="713232" y="411480"/>
            <a:ext cx="10607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>
                <a:solidFill>
                  <a:srgbClr val="1B1A1F"/>
                </a:solidFill>
                <a:latin typeface="Aptos Display"/>
              </a:rPr>
              <a:t>Context for this overview</a:t>
            </a:r>
          </a:p>
        </p:txBody>
      </p:sp>
      <p:sp>
        <p:nvSpPr>
          <p:cNvPr id="5" name="footer_source"/>
          <p:cNvSpPr txBox="1"/>
          <p:nvPr/>
        </p:nvSpPr>
        <p:spPr>
          <a:xfrm>
            <a:off x="713232" y="633679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65605D"/>
                </a:solidFill>
                <a:latin typeface="Aptos"/>
              </a:rPr>
              <a:t>Source: Take-Two FY2021 Form 10-K; Q2 FY2022 earnings release &amp; Form 10-Q.</a:t>
            </a:r>
          </a:p>
        </p:txBody>
      </p:sp>
      <p:sp>
        <p:nvSpPr>
          <p:cNvPr id="6" name="body_what_this_covers"/>
          <p:cNvSpPr txBox="1"/>
          <p:nvPr/>
        </p:nvSpPr>
        <p:spPr>
          <a:xfrm>
            <a:off x="713232" y="1481328"/>
            <a:ext cx="516636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A1F"/>
                </a:solidFill>
                <a:latin typeface="Aptos"/>
              </a:rPr>
              <a:t/>
            </a:r>
            <a:r>
              <a:rPr sz="1800" b="1">
                <a:solidFill>
                  <a:srgbClr val="1B1A1F"/>
                </a:solidFill>
                <a:latin typeface="Aptos Display"/>
              </a:rPr>
              <a:t>What this covers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Financial performance across revenue, profitability, revenue mix, and capital position.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Three lenses: multi-year growth, the FY2021 record year, and the early-FY2022 trajectory.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All figures are as reported in SEC filings; net bookings is shown alongside GAAP net revenue.</a:t>
            </a:r>
          </a:p>
        </p:txBody>
      </p:sp>
      <p:sp>
        <p:nvSpPr>
          <p:cNvPr id="7" name="body_how_take_two_is_built"/>
          <p:cNvSpPr txBox="1"/>
          <p:nvPr/>
        </p:nvSpPr>
        <p:spPr>
          <a:xfrm>
            <a:off x="6473952" y="1481328"/>
            <a:ext cx="516636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A1F"/>
                </a:solidFill>
                <a:latin typeface="Aptos"/>
              </a:rPr>
              <a:t/>
            </a:r>
            <a:r>
              <a:rPr sz="1800" b="1">
                <a:solidFill>
                  <a:srgbClr val="1B1A1F"/>
                </a:solidFill>
                <a:latin typeface="Aptos Display"/>
              </a:rPr>
              <a:t>How Take-Two is built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Five publishing labels: Rockstar Games, 2K, Private Division, Social Point, and Playdots.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27 proprietary franchises across action, sports, strategy, and mobile genres.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Grand Theft Auto is cornerstone IP; GTA V has sold in over 155 million units.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6,495 full-time employees, with 77% in product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ivider_motif_vertical_rail"/>
          <p:cNvCxnSpPr/>
          <p:nvPr/>
        </p:nvCxnSpPr>
        <p:spPr>
          <a:xfrm>
            <a:off x="493776" y="1298448"/>
            <a:ext cx="0" cy="4572000"/>
          </a:xfrm>
          <a:prstGeom prst="line">
            <a:avLst/>
          </a:prstGeom>
          <a:ln w="50800">
            <a:solidFill>
              <a:srgbClr val="6D2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ivider_motif_top_tick"/>
          <p:cNvCxnSpPr/>
          <p:nvPr/>
        </p:nvCxnSpPr>
        <p:spPr>
          <a:xfrm>
            <a:off x="374904" y="1143000"/>
            <a:ext cx="237744" cy="0"/>
          </a:xfrm>
          <a:prstGeom prst="line">
            <a:avLst/>
          </a:prstGeom>
          <a:ln w="5080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"/>
          <p:cNvSpPr txBox="1"/>
          <p:nvPr/>
        </p:nvSpPr>
        <p:spPr>
          <a:xfrm>
            <a:off x="713232" y="411480"/>
            <a:ext cx="10607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>
                <a:solidFill>
                  <a:srgbClr val="1B1A1F"/>
                </a:solidFill>
                <a:latin typeface="Aptos Display"/>
              </a:rPr>
              <a:t>Fiscal 2021 set company records across every headline metric</a:t>
            </a:r>
          </a:p>
        </p:txBody>
      </p:sp>
      <p:sp>
        <p:nvSpPr>
          <p:cNvPr id="5" name="footer_source"/>
          <p:cNvSpPr txBox="1"/>
          <p:nvPr/>
        </p:nvSpPr>
        <p:spPr>
          <a:xfrm>
            <a:off x="713232" y="633679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65605D"/>
                </a:solidFill>
                <a:latin typeface="Aptos"/>
              </a:rPr>
              <a:t>Source: FY2021 10-K, Statements of Operations; FY2021 earnings release.</a:t>
            </a:r>
          </a:p>
        </p:txBody>
      </p:sp>
      <p:sp>
        <p:nvSpPr>
          <p:cNvPr id="6" name="card_net_revenue"/>
          <p:cNvSpPr/>
          <p:nvPr/>
        </p:nvSpPr>
        <p:spPr>
          <a:xfrm>
            <a:off x="713232" y="1600200"/>
            <a:ext cx="2537460" cy="1243584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6D2E46"/>
                </a:solidFill>
                <a:latin typeface="Aptos Display"/>
              </a:rPr>
              <a:t>$3,373M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NET REVENUE</a:t>
            </a:r>
          </a:p>
        </p:txBody>
      </p:sp>
      <p:sp>
        <p:nvSpPr>
          <p:cNvPr id="7" name="card_net_income"/>
          <p:cNvSpPr/>
          <p:nvPr/>
        </p:nvSpPr>
        <p:spPr>
          <a:xfrm>
            <a:off x="3525011" y="1600200"/>
            <a:ext cx="2537460" cy="1243584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C42935"/>
                </a:solidFill>
                <a:latin typeface="Aptos Display"/>
              </a:rPr>
              <a:t>$589M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NET INCOME</a:t>
            </a:r>
          </a:p>
        </p:txBody>
      </p:sp>
      <p:sp>
        <p:nvSpPr>
          <p:cNvPr id="8" name="card_diluted_eps"/>
          <p:cNvSpPr/>
          <p:nvPr/>
        </p:nvSpPr>
        <p:spPr>
          <a:xfrm>
            <a:off x="6336792" y="1600200"/>
            <a:ext cx="2537460" cy="1243584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472763"/>
                </a:solidFill>
                <a:latin typeface="Aptos Display"/>
              </a:rPr>
              <a:t>$5.09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DILUTED EPS</a:t>
            </a:r>
          </a:p>
        </p:txBody>
      </p:sp>
      <p:sp>
        <p:nvSpPr>
          <p:cNvPr id="9" name="card_net_bookings"/>
          <p:cNvSpPr/>
          <p:nvPr/>
        </p:nvSpPr>
        <p:spPr>
          <a:xfrm>
            <a:off x="9148572" y="1600200"/>
            <a:ext cx="2537460" cy="1243584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5AB89A"/>
                </a:solidFill>
                <a:latin typeface="Aptos Display"/>
              </a:rPr>
              <a:t>$3,553M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NET BOOKINGS</a:t>
            </a:r>
          </a:p>
        </p:txBody>
      </p:sp>
      <p:sp>
        <p:nvSpPr>
          <p:cNvPr id="10" name="body_kpi_context"/>
          <p:cNvSpPr txBox="1"/>
          <p:nvPr/>
        </p:nvSpPr>
        <p:spPr>
          <a:xfrm>
            <a:off x="713232" y="3401568"/>
            <a:ext cx="9966960" cy="202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A1F"/>
                </a:solidFill>
                <a:latin typeface="Aptos"/>
              </a:rPr>
              <a:t/>
            </a:r>
            <a:r>
              <a:rPr sz="1800" b="1">
                <a:solidFill>
                  <a:srgbClr val="1B1A1F"/>
                </a:solidFill>
                <a:latin typeface="Aptos Display"/>
              </a:rPr>
              <a:t>Supporting context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Net revenue rose 9% year over year to a company record $3.37 billion.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Net income grew 46% to $589 million, the highest in company history.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Net bookings — the forward-looking demand metric — reached $3.55 billion, up 19%.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ivider_motif_vertical_rail"/>
          <p:cNvCxnSpPr/>
          <p:nvPr/>
        </p:nvCxnSpPr>
        <p:spPr>
          <a:xfrm>
            <a:off x="493776" y="1298448"/>
            <a:ext cx="0" cy="4572000"/>
          </a:xfrm>
          <a:prstGeom prst="line">
            <a:avLst/>
          </a:prstGeom>
          <a:ln w="50800">
            <a:solidFill>
              <a:srgbClr val="6D2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ivider_motif_top_tick"/>
          <p:cNvCxnSpPr/>
          <p:nvPr/>
        </p:nvCxnSpPr>
        <p:spPr>
          <a:xfrm>
            <a:off x="374904" y="1143000"/>
            <a:ext cx="237744" cy="0"/>
          </a:xfrm>
          <a:prstGeom prst="line">
            <a:avLst/>
          </a:prstGeom>
          <a:ln w="5080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"/>
          <p:cNvSpPr txBox="1"/>
          <p:nvPr/>
        </p:nvSpPr>
        <p:spPr>
          <a:xfrm>
            <a:off x="713232" y="411480"/>
            <a:ext cx="10607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>
                <a:solidFill>
                  <a:srgbClr val="1B1A1F"/>
                </a:solidFill>
                <a:latin typeface="Aptos Display"/>
              </a:rPr>
              <a:t>Net revenue has grown every year, up 26% over three years to a record $3.4B</a:t>
            </a:r>
          </a:p>
        </p:txBody>
      </p:sp>
      <p:sp>
        <p:nvSpPr>
          <p:cNvPr id="5" name="footer_source"/>
          <p:cNvSpPr txBox="1"/>
          <p:nvPr/>
        </p:nvSpPr>
        <p:spPr>
          <a:xfrm>
            <a:off x="713232" y="633679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65605D"/>
                </a:solidFill>
                <a:latin typeface="Aptos"/>
              </a:rPr>
              <a:t>Source: FY2021 10-K (FY2019–FY2021); stockanalysis.com (FY2017–FY2018).</a:t>
            </a:r>
          </a:p>
        </p:txBody>
      </p:sp>
      <p:sp>
        <p:nvSpPr>
          <p:cNvPr id="6" name="caption_chart_revenue_trend"/>
          <p:cNvSpPr txBox="1"/>
          <p:nvPr/>
        </p:nvSpPr>
        <p:spPr>
          <a:xfrm>
            <a:off x="713232" y="1444752"/>
            <a:ext cx="6537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65605D"/>
                </a:solidFill>
                <a:latin typeface="Aptos"/>
              </a:rPr>
              <a:t>Net revenue, fiscal years ended March 31 ($M)</a:t>
            </a:r>
          </a:p>
        </p:txBody>
      </p:sp>
      <p:graphicFrame>
        <p:nvGraphicFramePr>
          <p:cNvPr id="7" name="chart_revenue_trend"/>
          <p:cNvGraphicFramePr>
            <a:graphicFrameLocks noGrp="1"/>
          </p:cNvGraphicFramePr>
          <p:nvPr/>
        </p:nvGraphicFramePr>
        <p:xfrm>
          <a:off x="713232" y="1783080"/>
          <a:ext cx="653796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body_revenue_trend_so_what"/>
          <p:cNvSpPr txBox="1"/>
          <p:nvPr/>
        </p:nvSpPr>
        <p:spPr>
          <a:xfrm>
            <a:off x="7726679" y="1947672"/>
            <a:ext cx="3703320" cy="3172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A1F"/>
                </a:solidFill>
                <a:latin typeface="Aptos"/>
              </a:rPr>
              <a:t/>
            </a:r>
            <a:r>
              <a:rPr sz="1800" b="1">
                <a:solidFill>
                  <a:srgbClr val="1B1A1F"/>
                </a:solidFill>
                <a:latin typeface="Aptos Display"/>
              </a:rPr>
              <a:t>So what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Five straight years of top-line expansion, accelerating sharply from FY2019 onward.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FY2021's $3.37B is an all-time high, +9% over FY2020 and +26% over FY2019.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Growth has been driven by the shift to recurrent consumer spending.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ivider_motif_vertical_rail"/>
          <p:cNvCxnSpPr/>
          <p:nvPr/>
        </p:nvCxnSpPr>
        <p:spPr>
          <a:xfrm>
            <a:off x="493776" y="1298448"/>
            <a:ext cx="0" cy="4572000"/>
          </a:xfrm>
          <a:prstGeom prst="line">
            <a:avLst/>
          </a:prstGeom>
          <a:ln w="50800">
            <a:solidFill>
              <a:srgbClr val="6D2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ivider_motif_top_tick"/>
          <p:cNvCxnSpPr/>
          <p:nvPr/>
        </p:nvCxnSpPr>
        <p:spPr>
          <a:xfrm>
            <a:off x="374904" y="1143000"/>
            <a:ext cx="237744" cy="0"/>
          </a:xfrm>
          <a:prstGeom prst="line">
            <a:avLst/>
          </a:prstGeom>
          <a:ln w="5080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"/>
          <p:cNvSpPr txBox="1"/>
          <p:nvPr/>
        </p:nvSpPr>
        <p:spPr>
          <a:xfrm>
            <a:off x="713232" y="411480"/>
            <a:ext cx="10607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>
                <a:solidFill>
                  <a:srgbClr val="1B1A1F"/>
                </a:solidFill>
                <a:latin typeface="Aptos Display"/>
              </a:rPr>
              <a:t>Margins expanded sharply: gross margin reached 54.5% and operating margin 18.7%</a:t>
            </a:r>
          </a:p>
        </p:txBody>
      </p:sp>
      <p:sp>
        <p:nvSpPr>
          <p:cNvPr id="5" name="footer_source"/>
          <p:cNvSpPr txBox="1"/>
          <p:nvPr/>
        </p:nvSpPr>
        <p:spPr>
          <a:xfrm>
            <a:off x="713232" y="633679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65605D"/>
                </a:solidFill>
                <a:latin typeface="Aptos"/>
              </a:rPr>
              <a:t>Source: FY2021 10-K, Statements of Operations. Margins computed on GAAP net revenue.</a:t>
            </a:r>
          </a:p>
        </p:txBody>
      </p:sp>
      <p:sp>
        <p:nvSpPr>
          <p:cNvPr id="6" name="caption_chart_profitability_margins"/>
          <p:cNvSpPr txBox="1"/>
          <p:nvPr/>
        </p:nvSpPr>
        <p:spPr>
          <a:xfrm>
            <a:off x="713232" y="1444752"/>
            <a:ext cx="6537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65605D"/>
                </a:solidFill>
                <a:latin typeface="Aptos"/>
              </a:rPr>
              <a:t>Gross margin and operating margin, FY2019–FY2021 (% of net revenue)</a:t>
            </a:r>
          </a:p>
        </p:txBody>
      </p:sp>
      <p:graphicFrame>
        <p:nvGraphicFramePr>
          <p:cNvPr id="7" name="chart_profitability_margins"/>
          <p:cNvGraphicFramePr>
            <a:graphicFrameLocks noGrp="1"/>
          </p:cNvGraphicFramePr>
          <p:nvPr/>
        </p:nvGraphicFramePr>
        <p:xfrm>
          <a:off x="713232" y="1783080"/>
          <a:ext cx="653796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body_profitability_so_what"/>
          <p:cNvSpPr txBox="1"/>
          <p:nvPr/>
        </p:nvSpPr>
        <p:spPr>
          <a:xfrm>
            <a:off x="7726679" y="1947672"/>
            <a:ext cx="3703320" cy="3172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A1F"/>
                </a:solidFill>
                <a:latin typeface="Aptos"/>
              </a:rPr>
              <a:t/>
            </a:r>
            <a:r>
              <a:rPr sz="1800" b="1">
                <a:solidFill>
                  <a:srgbClr val="1B1A1F"/>
                </a:solidFill>
                <a:latin typeface="Aptos Display"/>
              </a:rPr>
              <a:t>Margin expansion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Gross margin climbed nearly 12 points in two years as digital and recurrent revenue grew.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Income from operations more than tripled, from $207M to $629M.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Net income margin reached 17.5% in FY2021, up from 12.5% in FY2019.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ivider_motif_vertical_rail"/>
          <p:cNvCxnSpPr/>
          <p:nvPr/>
        </p:nvCxnSpPr>
        <p:spPr>
          <a:xfrm>
            <a:off x="493776" y="1298448"/>
            <a:ext cx="0" cy="4572000"/>
          </a:xfrm>
          <a:prstGeom prst="line">
            <a:avLst/>
          </a:prstGeom>
          <a:ln w="50800">
            <a:solidFill>
              <a:srgbClr val="6D2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ivider_motif_top_tick"/>
          <p:cNvCxnSpPr/>
          <p:nvPr/>
        </p:nvCxnSpPr>
        <p:spPr>
          <a:xfrm>
            <a:off x="374904" y="1143000"/>
            <a:ext cx="237744" cy="0"/>
          </a:xfrm>
          <a:prstGeom prst="line">
            <a:avLst/>
          </a:prstGeom>
          <a:ln w="5080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"/>
          <p:cNvSpPr txBox="1"/>
          <p:nvPr/>
        </p:nvSpPr>
        <p:spPr>
          <a:xfrm>
            <a:off x="713232" y="411480"/>
            <a:ext cx="10607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>
                <a:solidFill>
                  <a:srgbClr val="1B1A1F"/>
                </a:solidFill>
                <a:latin typeface="Aptos Display"/>
              </a:rPr>
              <a:t>Recurrent consumer spending became the majority of revenue, flipping the model</a:t>
            </a:r>
          </a:p>
        </p:txBody>
      </p:sp>
      <p:sp>
        <p:nvSpPr>
          <p:cNvPr id="5" name="footer_source"/>
          <p:cNvSpPr txBox="1"/>
          <p:nvPr/>
        </p:nvSpPr>
        <p:spPr>
          <a:xfrm>
            <a:off x="713232" y="633679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65605D"/>
                </a:solidFill>
                <a:latin typeface="Aptos"/>
              </a:rPr>
              <a:t>Source: FY2021 10-K, net revenue by type. RCS = in-game purchases, virtual currency, add-on content.</a:t>
            </a:r>
          </a:p>
        </p:txBody>
      </p:sp>
      <p:sp>
        <p:nvSpPr>
          <p:cNvPr id="6" name="caption_chart_revenue_mix"/>
          <p:cNvSpPr txBox="1"/>
          <p:nvPr/>
        </p:nvSpPr>
        <p:spPr>
          <a:xfrm>
            <a:off x="713232" y="1444752"/>
            <a:ext cx="6537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65605D"/>
                </a:solidFill>
                <a:latin typeface="Aptos"/>
              </a:rPr>
              <a:t>Net revenue by type, FY2020 vs FY2021 ($M)</a:t>
            </a:r>
          </a:p>
        </p:txBody>
      </p:sp>
      <p:graphicFrame>
        <p:nvGraphicFramePr>
          <p:cNvPr id="7" name="chart_revenue_mix"/>
          <p:cNvGraphicFramePr>
            <a:graphicFrameLocks noGrp="1"/>
          </p:cNvGraphicFramePr>
          <p:nvPr/>
        </p:nvGraphicFramePr>
        <p:xfrm>
          <a:off x="713232" y="1783080"/>
          <a:ext cx="653796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body_revenue_mix_so_what"/>
          <p:cNvSpPr txBox="1"/>
          <p:nvPr/>
        </p:nvSpPr>
        <p:spPr>
          <a:xfrm>
            <a:off x="7726679" y="1947672"/>
            <a:ext cx="3703320" cy="3172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A1F"/>
                </a:solidFill>
                <a:latin typeface="Aptos"/>
              </a:rPr>
              <a:t/>
            </a:r>
            <a:r>
              <a:rPr sz="1800" b="1">
                <a:solidFill>
                  <a:srgbClr val="1B1A1F"/>
                </a:solidFill>
                <a:latin typeface="Aptos Display"/>
              </a:rPr>
              <a:t>Model shift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RCS grew 50% year over year and became the majority of revenue for the first time.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RCS reached 62% of net revenue and 63% of net bookings.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The shift de-risks the model: revenue is increasingly recurring.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ivider_motif_vertical_rail"/>
          <p:cNvCxnSpPr/>
          <p:nvPr/>
        </p:nvCxnSpPr>
        <p:spPr>
          <a:xfrm>
            <a:off x="493776" y="1298448"/>
            <a:ext cx="0" cy="4572000"/>
          </a:xfrm>
          <a:prstGeom prst="line">
            <a:avLst/>
          </a:prstGeom>
          <a:ln w="50800">
            <a:solidFill>
              <a:srgbClr val="6D2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ivider_motif_top_tick"/>
          <p:cNvCxnSpPr/>
          <p:nvPr/>
        </p:nvCxnSpPr>
        <p:spPr>
          <a:xfrm>
            <a:off x="374904" y="1143000"/>
            <a:ext cx="237744" cy="0"/>
          </a:xfrm>
          <a:prstGeom prst="line">
            <a:avLst/>
          </a:prstGeom>
          <a:ln w="5080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"/>
          <p:cNvSpPr txBox="1"/>
          <p:nvPr/>
        </p:nvSpPr>
        <p:spPr>
          <a:xfrm>
            <a:off x="713232" y="411480"/>
            <a:ext cx="10607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>
                <a:solidFill>
                  <a:srgbClr val="1B1A1F"/>
                </a:solidFill>
                <a:latin typeface="Aptos Display"/>
              </a:rPr>
              <a:t>Revenue is overwhelmingly digital and led by the U.S., with 40% from abroad</a:t>
            </a:r>
          </a:p>
        </p:txBody>
      </p:sp>
      <p:sp>
        <p:nvSpPr>
          <p:cNvPr id="5" name="footer_source"/>
          <p:cNvSpPr txBox="1"/>
          <p:nvPr/>
        </p:nvSpPr>
        <p:spPr>
          <a:xfrm>
            <a:off x="713232" y="633679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65605D"/>
                </a:solidFill>
                <a:latin typeface="Aptos"/>
              </a:rPr>
              <a:t>Source: FY2021 10-K, net revenue by distribution channel and by geography.</a:t>
            </a:r>
          </a:p>
        </p:txBody>
      </p:sp>
      <p:sp>
        <p:nvSpPr>
          <p:cNvPr id="6" name="caption_table_channel"/>
          <p:cNvSpPr txBox="1"/>
          <p:nvPr/>
        </p:nvSpPr>
        <p:spPr>
          <a:xfrm>
            <a:off x="713232" y="1508760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65605D"/>
                </a:solidFill>
                <a:latin typeface="Aptos"/>
              </a:rPr>
              <a:t>FY2021 net revenue by channel</a:t>
            </a:r>
          </a:p>
        </p:txBody>
      </p:sp>
      <p:graphicFrame>
        <p:nvGraphicFramePr>
          <p:cNvPr id="7" name="table_channel"/>
          <p:cNvGraphicFramePr>
            <a:graphicFrameLocks noGrp="1"/>
          </p:cNvGraphicFramePr>
          <p:nvPr/>
        </p:nvGraphicFramePr>
        <p:xfrm>
          <a:off x="713232" y="1847088"/>
          <a:ext cx="525780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</a:tblGrid>
              <a:tr h="493776"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Channel</a:t>
                      </a:r>
                    </a:p>
                  </a:txBody>
                  <a:tcPr>
                    <a:solidFill>
                      <a:srgbClr val="6D2E46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FY2021 ($M)</a:t>
                      </a:r>
                    </a:p>
                  </a:txBody>
                  <a:tcPr>
                    <a:solidFill>
                      <a:srgbClr val="6D2E46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Share</a:t>
                      </a:r>
                    </a:p>
                  </a:txBody>
                  <a:tcPr>
                    <a:solidFill>
                      <a:srgbClr val="6D2E46"/>
                    </a:solidFill>
                  </a:tcPr>
                </a:tc>
              </a:tr>
              <a:tr h="493776"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Digital online</a:t>
                      </a:r>
                    </a:p>
                  </a:txBody>
                  <a:tcPr>
                    <a:solidFill>
                      <a:srgbClr val="FFFBF3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2,919</a:t>
                      </a:r>
                    </a:p>
                  </a:txBody>
                  <a:tcPr>
                    <a:solidFill>
                      <a:srgbClr val="FFFBF3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86.6%</a:t>
                      </a:r>
                    </a:p>
                  </a:txBody>
                  <a:tcPr>
                    <a:solidFill>
                      <a:srgbClr val="FFFBF3"/>
                    </a:solidFill>
                  </a:tcPr>
                </a:tc>
              </a:tr>
              <a:tr h="493776"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Physical retail &amp; other</a:t>
                      </a:r>
                    </a:p>
                  </a:txBody>
                  <a:tcPr>
                    <a:solidFill>
                      <a:srgbClr val="F7F1E8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453</a:t>
                      </a:r>
                    </a:p>
                  </a:txBody>
                  <a:tcPr>
                    <a:solidFill>
                      <a:srgbClr val="F7F1E8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13.4%</a:t>
                      </a:r>
                    </a:p>
                  </a:txBody>
                  <a:tcPr>
                    <a:solidFill>
                      <a:srgbClr val="F7F1E8"/>
                    </a:solidFill>
                  </a:tcPr>
                </a:tc>
              </a:tr>
            </a:tbl>
          </a:graphicData>
        </a:graphic>
      </p:graphicFrame>
      <p:sp>
        <p:nvSpPr>
          <p:cNvPr id="8" name="caption_table_geography"/>
          <p:cNvSpPr txBox="1"/>
          <p:nvPr/>
        </p:nvSpPr>
        <p:spPr>
          <a:xfrm>
            <a:off x="6382512" y="1508760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65605D"/>
                </a:solidFill>
                <a:latin typeface="Aptos"/>
              </a:rPr>
              <a:t>Net revenue by geography</a:t>
            </a:r>
          </a:p>
        </p:txBody>
      </p:sp>
      <p:graphicFrame>
        <p:nvGraphicFramePr>
          <p:cNvPr id="9" name="table_geography"/>
          <p:cNvGraphicFramePr>
            <a:graphicFrameLocks noGrp="1"/>
          </p:cNvGraphicFramePr>
          <p:nvPr/>
        </p:nvGraphicFramePr>
        <p:xfrm>
          <a:off x="6382512" y="1847088"/>
          <a:ext cx="525780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/>
                <a:gridCol w="1314450"/>
                <a:gridCol w="1314450"/>
                <a:gridCol w="1314450"/>
              </a:tblGrid>
              <a:tr h="493776"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Geography</a:t>
                      </a:r>
                    </a:p>
                  </a:txBody>
                  <a:tcPr>
                    <a:solidFill>
                      <a:srgbClr val="6D2E46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FY2020 ($M)</a:t>
                      </a:r>
                    </a:p>
                  </a:txBody>
                  <a:tcPr>
                    <a:solidFill>
                      <a:srgbClr val="6D2E46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FY2021 ($M)</a:t>
                      </a:r>
                    </a:p>
                  </a:txBody>
                  <a:tcPr>
                    <a:solidFill>
                      <a:srgbClr val="6D2E46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Growth</a:t>
                      </a:r>
                    </a:p>
                  </a:txBody>
                  <a:tcPr>
                    <a:solidFill>
                      <a:srgbClr val="6D2E46"/>
                    </a:solidFill>
                  </a:tcPr>
                </a:tc>
              </a:tr>
              <a:tr h="493776"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United States</a:t>
                      </a:r>
                    </a:p>
                  </a:txBody>
                  <a:tcPr>
                    <a:solidFill>
                      <a:srgbClr val="FFFBF3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1,776</a:t>
                      </a:r>
                    </a:p>
                  </a:txBody>
                  <a:tcPr>
                    <a:solidFill>
                      <a:srgbClr val="FFFBF3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2,016</a:t>
                      </a:r>
                    </a:p>
                  </a:txBody>
                  <a:tcPr>
                    <a:solidFill>
                      <a:srgbClr val="FFFBF3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+14%</a:t>
                      </a:r>
                    </a:p>
                  </a:txBody>
                  <a:tcPr>
                    <a:solidFill>
                      <a:srgbClr val="FFFBF3"/>
                    </a:solidFill>
                  </a:tcPr>
                </a:tc>
              </a:tr>
              <a:tr h="493776"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International</a:t>
                      </a:r>
                    </a:p>
                  </a:txBody>
                  <a:tcPr>
                    <a:solidFill>
                      <a:srgbClr val="F7F1E8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1,313</a:t>
                      </a:r>
                    </a:p>
                  </a:txBody>
                  <a:tcPr>
                    <a:solidFill>
                      <a:srgbClr val="F7F1E8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1,357</a:t>
                      </a:r>
                    </a:p>
                  </a:txBody>
                  <a:tcPr>
                    <a:solidFill>
                      <a:srgbClr val="F7F1E8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+3%</a:t>
                      </a:r>
                    </a:p>
                  </a:txBody>
                  <a:tcPr>
                    <a:solidFill>
                      <a:srgbClr val="F7F1E8"/>
                    </a:solidFill>
                  </a:tcPr>
                </a:tc>
              </a:tr>
            </a:tbl>
          </a:graphicData>
        </a:graphic>
      </p:graphicFrame>
      <p:sp>
        <p:nvSpPr>
          <p:cNvPr id="10" name="body_channel_geo_context"/>
          <p:cNvSpPr txBox="1"/>
          <p:nvPr/>
        </p:nvSpPr>
        <p:spPr>
          <a:xfrm>
            <a:off x="713232" y="3913632"/>
            <a:ext cx="9966960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A1F"/>
                </a:solidFill>
                <a:latin typeface="Aptos"/>
              </a:rPr>
              <a:t/>
            </a:r>
            <a:r>
              <a:rPr sz="1800" b="1">
                <a:solidFill>
                  <a:srgbClr val="1B1A1F"/>
                </a:solidFill>
                <a:latin typeface="Aptos Display"/>
              </a:rPr>
              <a:t>Read-through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Digital delivery reached 86.6% of net revenue, up from 63% just two years earlier.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The U.S. drove growth at +14%; international held 40% of revenue, with Asia a stated expansion opportunity.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ivider_motif_vertical_rail"/>
          <p:cNvCxnSpPr/>
          <p:nvPr/>
        </p:nvCxnSpPr>
        <p:spPr>
          <a:xfrm>
            <a:off x="493776" y="1298448"/>
            <a:ext cx="0" cy="4572000"/>
          </a:xfrm>
          <a:prstGeom prst="line">
            <a:avLst/>
          </a:prstGeom>
          <a:ln w="50800">
            <a:solidFill>
              <a:srgbClr val="6D2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ivider_motif_top_tick"/>
          <p:cNvCxnSpPr/>
          <p:nvPr/>
        </p:nvCxnSpPr>
        <p:spPr>
          <a:xfrm>
            <a:off x="374904" y="1143000"/>
            <a:ext cx="237744" cy="0"/>
          </a:xfrm>
          <a:prstGeom prst="line">
            <a:avLst/>
          </a:prstGeom>
          <a:ln w="5080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"/>
          <p:cNvSpPr txBox="1"/>
          <p:nvPr/>
        </p:nvSpPr>
        <p:spPr>
          <a:xfrm>
            <a:off x="713232" y="411480"/>
            <a:ext cx="10607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>
                <a:solidFill>
                  <a:srgbClr val="1B1A1F"/>
                </a:solidFill>
                <a:latin typeface="Aptos Display"/>
              </a:rPr>
              <a:t>Console anchors the business while PC and mobile broaden the base</a:t>
            </a:r>
          </a:p>
        </p:txBody>
      </p:sp>
      <p:sp>
        <p:nvSpPr>
          <p:cNvPr id="5" name="footer_source"/>
          <p:cNvSpPr txBox="1"/>
          <p:nvPr/>
        </p:nvSpPr>
        <p:spPr>
          <a:xfrm>
            <a:off x="713232" y="633679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65605D"/>
                </a:solidFill>
                <a:latin typeface="Aptos"/>
              </a:rPr>
              <a:t>Source: FY2021 10-K, net revenue by platform.</a:t>
            </a:r>
          </a:p>
        </p:txBody>
      </p:sp>
      <p:sp>
        <p:nvSpPr>
          <p:cNvPr id="6" name="caption_chart_platform_mix"/>
          <p:cNvSpPr txBox="1"/>
          <p:nvPr/>
        </p:nvSpPr>
        <p:spPr>
          <a:xfrm>
            <a:off x="713232" y="1444752"/>
            <a:ext cx="6537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65605D"/>
                </a:solidFill>
                <a:latin typeface="Aptos"/>
              </a:rPr>
              <a:t>FY2021 net revenue by platform ($M)</a:t>
            </a:r>
          </a:p>
        </p:txBody>
      </p:sp>
      <p:graphicFrame>
        <p:nvGraphicFramePr>
          <p:cNvPr id="7" name="chart_platform_mix"/>
          <p:cNvGraphicFramePr>
            <a:graphicFrameLocks noGrp="1"/>
          </p:cNvGraphicFramePr>
          <p:nvPr/>
        </p:nvGraphicFramePr>
        <p:xfrm>
          <a:off x="713232" y="1783080"/>
          <a:ext cx="653796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body_platform_so_what"/>
          <p:cNvSpPr txBox="1"/>
          <p:nvPr/>
        </p:nvSpPr>
        <p:spPr>
          <a:xfrm>
            <a:off x="7726679" y="1947672"/>
            <a:ext cx="3703320" cy="3172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A1F"/>
                </a:solidFill>
                <a:latin typeface="Aptos"/>
              </a:rPr>
              <a:t/>
            </a:r>
            <a:r>
              <a:rPr sz="1800" b="1">
                <a:solidFill>
                  <a:srgbClr val="1B1A1F"/>
                </a:solidFill>
                <a:latin typeface="Aptos Display"/>
              </a:rPr>
              <a:t>Platform lens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Console delivered 75% of FY2021 net revenue, led by GTA and NBA 2K.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PC and other contributed $856M, including a growing mobile and PC-digital base.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Grand Theft Auto products alone represented 29.2% of total net revenue.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ivider_motif_vertical_rail"/>
          <p:cNvCxnSpPr/>
          <p:nvPr/>
        </p:nvCxnSpPr>
        <p:spPr>
          <a:xfrm>
            <a:off x="493776" y="1298448"/>
            <a:ext cx="0" cy="4572000"/>
          </a:xfrm>
          <a:prstGeom prst="line">
            <a:avLst/>
          </a:prstGeom>
          <a:ln w="50800">
            <a:solidFill>
              <a:srgbClr val="6D2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ivider_motif_top_tick"/>
          <p:cNvCxnSpPr/>
          <p:nvPr/>
        </p:nvCxnSpPr>
        <p:spPr>
          <a:xfrm>
            <a:off x="374904" y="1143000"/>
            <a:ext cx="237744" cy="0"/>
          </a:xfrm>
          <a:prstGeom prst="line">
            <a:avLst/>
          </a:prstGeom>
          <a:ln w="5080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"/>
          <p:cNvSpPr txBox="1"/>
          <p:nvPr/>
        </p:nvSpPr>
        <p:spPr>
          <a:xfrm>
            <a:off x="713232" y="411480"/>
            <a:ext cx="10607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>
                <a:solidFill>
                  <a:srgbClr val="1B1A1F"/>
                </a:solidFill>
                <a:latin typeface="Aptos Display"/>
              </a:rPr>
              <a:t>A fortress balance sheet: $2.7B in cash and investments funds the pipeline</a:t>
            </a:r>
          </a:p>
        </p:txBody>
      </p:sp>
      <p:sp>
        <p:nvSpPr>
          <p:cNvPr id="5" name="footer_source"/>
          <p:cNvSpPr txBox="1"/>
          <p:nvPr/>
        </p:nvSpPr>
        <p:spPr>
          <a:xfrm>
            <a:off x="713232" y="633679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65605D"/>
                </a:solidFill>
                <a:latin typeface="Aptos"/>
              </a:rPr>
              <a:t>Source: FY2021 10-K, Balance Sheet and Statement of Cash Flows.</a:t>
            </a:r>
          </a:p>
        </p:txBody>
      </p:sp>
      <p:sp>
        <p:nvSpPr>
          <p:cNvPr id="6" name="card_cash__equivalents"/>
          <p:cNvSpPr/>
          <p:nvPr/>
        </p:nvSpPr>
        <p:spPr>
          <a:xfrm>
            <a:off x="713232" y="1600200"/>
            <a:ext cx="2537460" cy="1243584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6D2E46"/>
                </a:solidFill>
                <a:latin typeface="Aptos Display"/>
              </a:rPr>
              <a:t>$1,423M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CASH &amp; EQUIVALENTS</a:t>
            </a:r>
          </a:p>
        </p:txBody>
      </p:sp>
      <p:sp>
        <p:nvSpPr>
          <p:cNvPr id="7" name="card_short_term_investments"/>
          <p:cNvSpPr/>
          <p:nvPr/>
        </p:nvSpPr>
        <p:spPr>
          <a:xfrm>
            <a:off x="3525011" y="1600200"/>
            <a:ext cx="2537460" cy="1243584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C42935"/>
                </a:solidFill>
                <a:latin typeface="Aptos Display"/>
              </a:rPr>
              <a:t>$1,309M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SHORT-TERM INVESTMENTS</a:t>
            </a:r>
          </a:p>
        </p:txBody>
      </p:sp>
      <p:sp>
        <p:nvSpPr>
          <p:cNvPr id="8" name="card_operating_cash_flow"/>
          <p:cNvSpPr/>
          <p:nvPr/>
        </p:nvSpPr>
        <p:spPr>
          <a:xfrm>
            <a:off x="6336792" y="1600200"/>
            <a:ext cx="2537460" cy="1243584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472763"/>
                </a:solidFill>
                <a:latin typeface="Aptos Display"/>
              </a:rPr>
              <a:t>$912M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OPERATING CASH FLOW</a:t>
            </a:r>
          </a:p>
        </p:txBody>
      </p:sp>
      <p:sp>
        <p:nvSpPr>
          <p:cNvPr id="9" name="card_stockholders_equity"/>
          <p:cNvSpPr/>
          <p:nvPr/>
        </p:nvSpPr>
        <p:spPr>
          <a:xfrm>
            <a:off x="9148572" y="1600200"/>
            <a:ext cx="2537460" cy="1243584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5AB89A"/>
                </a:solidFill>
                <a:latin typeface="Aptos Display"/>
              </a:rPr>
              <a:t>$3,332M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STOCKHOLDERS' EQUITY</a:t>
            </a:r>
          </a:p>
        </p:txBody>
      </p:sp>
      <p:sp>
        <p:nvSpPr>
          <p:cNvPr id="10" name="body_balance_sheet_context"/>
          <p:cNvSpPr txBox="1"/>
          <p:nvPr/>
        </p:nvSpPr>
        <p:spPr>
          <a:xfrm>
            <a:off x="713232" y="3401568"/>
            <a:ext cx="9966960" cy="202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A1F"/>
                </a:solidFill>
                <a:latin typeface="Aptos"/>
              </a:rPr>
              <a:t/>
            </a:r>
            <a:r>
              <a:rPr sz="1800" b="1">
                <a:solidFill>
                  <a:srgbClr val="1B1A1F"/>
                </a:solidFill>
                <a:latin typeface="Aptos Display"/>
              </a:rPr>
              <a:t>Capital position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Take-Two held $2.7 billion in cash and short-term investments at fiscal year-end.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Operating cash flow rose 33% to $912 million, funding the multi-year slate internally.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Total assets were $6.0 billion with $3.3 billion of stockholders' equity.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71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ivider_motif_vertical_rail"/>
          <p:cNvCxnSpPr/>
          <p:nvPr/>
        </p:nvCxnSpPr>
        <p:spPr>
          <a:xfrm>
            <a:off x="493776" y="1298448"/>
            <a:ext cx="0" cy="4572000"/>
          </a:xfrm>
          <a:prstGeom prst="line">
            <a:avLst/>
          </a:prstGeom>
          <a:ln w="5080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ivider_motif_top_tick"/>
          <p:cNvCxnSpPr/>
          <p:nvPr/>
        </p:nvCxnSpPr>
        <p:spPr>
          <a:xfrm>
            <a:off x="374904" y="1143000"/>
            <a:ext cx="237744" cy="0"/>
          </a:xfrm>
          <a:prstGeom prst="line">
            <a:avLst/>
          </a:prstGeom>
          <a:ln w="50800">
            <a:solidFill>
              <a:srgbClr val="C42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"/>
          <p:cNvSpPr txBox="1"/>
          <p:nvPr/>
        </p:nvSpPr>
        <p:spPr>
          <a:xfrm>
            <a:off x="713232" y="411480"/>
            <a:ext cx="10607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Aptos Display"/>
              </a:rPr>
              <a:t>Part Two: The first half of fiscal 2022</a:t>
            </a:r>
          </a:p>
        </p:txBody>
      </p:sp>
      <p:sp>
        <p:nvSpPr>
          <p:cNvPr id="5" name="body_subtitle"/>
          <p:cNvSpPr txBox="1"/>
          <p:nvPr/>
        </p:nvSpPr>
        <p:spPr>
          <a:xfrm>
            <a:off x="713232" y="141732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E9DCCE"/>
                </a:solidFill>
                <a:latin typeface="Aptos"/>
              </a:rPr>
              <a:t>Investing through a transition year while recurrent spending deepens</a:t>
            </a:r>
          </a:p>
        </p:txBody>
      </p:sp>
      <p:sp>
        <p:nvSpPr>
          <p:cNvPr id="6" name="footer_source"/>
          <p:cNvSpPr txBox="1"/>
          <p:nvPr/>
        </p:nvSpPr>
        <p:spPr>
          <a:xfrm>
            <a:off x="713232" y="633679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C8BAAA"/>
                </a:solidFill>
                <a:latin typeface="Aptos"/>
              </a:rPr>
              <a:t>Source: Take-Two Q2 FY2022 earnings release and Form 10-Q.</a:t>
            </a:r>
          </a:p>
        </p:txBody>
      </p:sp>
      <p:sp>
        <p:nvSpPr>
          <p:cNvPr id="7" name="card_section_net_bookings"/>
          <p:cNvSpPr/>
          <p:nvPr/>
        </p:nvSpPr>
        <p:spPr>
          <a:xfrm>
            <a:off x="713232" y="2907792"/>
            <a:ext cx="2514600" cy="1170432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F2A541"/>
                </a:solidFill>
                <a:latin typeface="Aptos Display"/>
              </a:rPr>
              <a:t>$985M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Q2 FY2022 NET BOOKINGS</a:t>
            </a:r>
          </a:p>
        </p:txBody>
      </p:sp>
      <p:sp>
        <p:nvSpPr>
          <p:cNvPr id="8" name="card_section_rcs_share"/>
          <p:cNvSpPr/>
          <p:nvPr/>
        </p:nvSpPr>
        <p:spPr>
          <a:xfrm>
            <a:off x="3502152" y="2907792"/>
            <a:ext cx="2514600" cy="1170432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5AB89A"/>
                </a:solidFill>
                <a:latin typeface="Aptos Display"/>
              </a:rPr>
              <a:t>69%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NET BOOKINGS FROM RCS</a:t>
            </a:r>
          </a:p>
        </p:txBody>
      </p:sp>
      <p:sp>
        <p:nvSpPr>
          <p:cNvPr id="9" name="card_section_digital_share"/>
          <p:cNvSpPr/>
          <p:nvPr/>
        </p:nvSpPr>
        <p:spPr>
          <a:xfrm>
            <a:off x="6291072" y="2907792"/>
            <a:ext cx="2514600" cy="1170432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C42935"/>
                </a:solidFill>
                <a:latin typeface="Aptos Display"/>
              </a:rPr>
              <a:t>91%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DIGITAL NET REVENUE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ivider_motif_vertical_rail"/>
          <p:cNvCxnSpPr/>
          <p:nvPr/>
        </p:nvCxnSpPr>
        <p:spPr>
          <a:xfrm>
            <a:off x="493776" y="1298448"/>
            <a:ext cx="0" cy="4572000"/>
          </a:xfrm>
          <a:prstGeom prst="line">
            <a:avLst/>
          </a:prstGeom>
          <a:ln w="50800">
            <a:solidFill>
              <a:srgbClr val="6D2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ivider_motif_top_tick"/>
          <p:cNvCxnSpPr/>
          <p:nvPr/>
        </p:nvCxnSpPr>
        <p:spPr>
          <a:xfrm>
            <a:off x="374904" y="1143000"/>
            <a:ext cx="237744" cy="0"/>
          </a:xfrm>
          <a:prstGeom prst="line">
            <a:avLst/>
          </a:prstGeom>
          <a:ln w="5080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"/>
          <p:cNvSpPr txBox="1"/>
          <p:nvPr/>
        </p:nvSpPr>
        <p:spPr>
          <a:xfrm>
            <a:off x="713232" y="411480"/>
            <a:ext cx="10607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>
                <a:solidFill>
                  <a:srgbClr val="1B1A1F"/>
                </a:solidFill>
                <a:latin typeface="Aptos Display"/>
              </a:rPr>
              <a:t>Q2 FY2022 revenue held steady as the company invested for its largest-ever pipeline</a:t>
            </a:r>
          </a:p>
        </p:txBody>
      </p:sp>
      <p:sp>
        <p:nvSpPr>
          <p:cNvPr id="5" name="footer_source"/>
          <p:cNvSpPr txBox="1"/>
          <p:nvPr/>
        </p:nvSpPr>
        <p:spPr>
          <a:xfrm>
            <a:off x="713232" y="633679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65605D"/>
                </a:solidFill>
                <a:latin typeface="Aptos"/>
              </a:rPr>
              <a:t>Source: Q2 FY2022 earnings release and Form 10-Q (quarter ended September 30, 2021).</a:t>
            </a:r>
          </a:p>
        </p:txBody>
      </p:sp>
      <p:sp>
        <p:nvSpPr>
          <p:cNvPr id="6" name="card_q2_net_revenue"/>
          <p:cNvSpPr/>
          <p:nvPr/>
        </p:nvSpPr>
        <p:spPr>
          <a:xfrm>
            <a:off x="713232" y="1600200"/>
            <a:ext cx="2537460" cy="1243584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6D2E46"/>
                </a:solidFill>
                <a:latin typeface="Aptos Display"/>
              </a:rPr>
              <a:t>$858M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Q2 NET REVENUE</a:t>
            </a:r>
          </a:p>
        </p:txBody>
      </p:sp>
      <p:sp>
        <p:nvSpPr>
          <p:cNvPr id="7" name="card_q2_operating_income"/>
          <p:cNvSpPr/>
          <p:nvPr/>
        </p:nvSpPr>
        <p:spPr>
          <a:xfrm>
            <a:off x="3525011" y="1600200"/>
            <a:ext cx="2537460" cy="1243584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C42935"/>
                </a:solidFill>
                <a:latin typeface="Aptos Display"/>
              </a:rPr>
              <a:t>$20M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Q2 OPERATING INCOME</a:t>
            </a:r>
          </a:p>
        </p:txBody>
      </p:sp>
      <p:sp>
        <p:nvSpPr>
          <p:cNvPr id="8" name="card_q2_diluted_eps"/>
          <p:cNvSpPr/>
          <p:nvPr/>
        </p:nvSpPr>
        <p:spPr>
          <a:xfrm>
            <a:off x="6336792" y="1600200"/>
            <a:ext cx="2537460" cy="1243584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472763"/>
                </a:solidFill>
                <a:latin typeface="Aptos Display"/>
              </a:rPr>
              <a:t>$0.09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Q2 DILUTED EPS</a:t>
            </a:r>
          </a:p>
        </p:txBody>
      </p:sp>
      <p:sp>
        <p:nvSpPr>
          <p:cNvPr id="9" name="card_q2_net_bookings"/>
          <p:cNvSpPr/>
          <p:nvPr/>
        </p:nvSpPr>
        <p:spPr>
          <a:xfrm>
            <a:off x="9148572" y="1600200"/>
            <a:ext cx="2537460" cy="1243584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5AB89A"/>
                </a:solidFill>
                <a:latin typeface="Aptos Display"/>
              </a:rPr>
              <a:t>$985M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Q2 NET BOOKINGS</a:t>
            </a:r>
          </a:p>
        </p:txBody>
      </p:sp>
      <p:sp>
        <p:nvSpPr>
          <p:cNvPr id="10" name="body_q2fy22_context"/>
          <p:cNvSpPr txBox="1"/>
          <p:nvPr/>
        </p:nvSpPr>
        <p:spPr>
          <a:xfrm>
            <a:off x="713232" y="3401568"/>
            <a:ext cx="9966960" cy="202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A1F"/>
                </a:solidFill>
                <a:latin typeface="Aptos"/>
              </a:rPr>
              <a:t/>
            </a:r>
            <a:r>
              <a:rPr sz="1800" b="1">
                <a:solidFill>
                  <a:srgbClr val="1B1A1F"/>
                </a:solidFill>
                <a:latin typeface="Aptos Display"/>
              </a:rPr>
              <a:t>Quarter context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Net bookings grew 3% to $985M; recurrent consumer spending rose to 69% of net bookings.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Operating income was $20M as Take-Two stepped up investment in development.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Gross margin was 46.8%; the quarter reflects deliberate build-up ahead of a record slate.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ivider_motif_vertical_rail"/>
          <p:cNvCxnSpPr/>
          <p:nvPr/>
        </p:nvCxnSpPr>
        <p:spPr>
          <a:xfrm>
            <a:off x="493776" y="1298448"/>
            <a:ext cx="0" cy="4572000"/>
          </a:xfrm>
          <a:prstGeom prst="line">
            <a:avLst/>
          </a:prstGeom>
          <a:ln w="50800">
            <a:solidFill>
              <a:srgbClr val="6D2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ivider_motif_top_tick"/>
          <p:cNvCxnSpPr/>
          <p:nvPr/>
        </p:nvCxnSpPr>
        <p:spPr>
          <a:xfrm>
            <a:off x="374904" y="1143000"/>
            <a:ext cx="237744" cy="0"/>
          </a:xfrm>
          <a:prstGeom prst="line">
            <a:avLst/>
          </a:prstGeom>
          <a:ln w="5080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"/>
          <p:cNvSpPr txBox="1"/>
          <p:nvPr/>
        </p:nvSpPr>
        <p:spPr>
          <a:xfrm>
            <a:off x="713232" y="411480"/>
            <a:ext cx="10607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>
                <a:solidFill>
                  <a:srgbClr val="1B1A1F"/>
                </a:solidFill>
                <a:latin typeface="Aptos Display"/>
              </a:rPr>
              <a:t>In Q2, digital and recurrent spending deepened across both geography and channel</a:t>
            </a:r>
          </a:p>
        </p:txBody>
      </p:sp>
      <p:sp>
        <p:nvSpPr>
          <p:cNvPr id="5" name="footer_source"/>
          <p:cNvSpPr txBox="1"/>
          <p:nvPr/>
        </p:nvSpPr>
        <p:spPr>
          <a:xfrm>
            <a:off x="713232" y="633679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65605D"/>
                </a:solidFill>
                <a:latin typeface="Aptos"/>
              </a:rPr>
              <a:t>Source: Q2 FY2022 earnings release (quarter ended September 30, 2021).</a:t>
            </a:r>
          </a:p>
        </p:txBody>
      </p:sp>
      <p:sp>
        <p:nvSpPr>
          <p:cNvPr id="6" name="caption_table_q2_geography"/>
          <p:cNvSpPr txBox="1"/>
          <p:nvPr/>
        </p:nvSpPr>
        <p:spPr>
          <a:xfrm>
            <a:off x="713232" y="1508760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65605D"/>
                </a:solidFill>
                <a:latin typeface="Aptos"/>
              </a:rPr>
              <a:t>Q2 FY2022 net revenue by geography</a:t>
            </a:r>
          </a:p>
        </p:txBody>
      </p:sp>
      <p:graphicFrame>
        <p:nvGraphicFramePr>
          <p:cNvPr id="7" name="table_q2_geography"/>
          <p:cNvGraphicFramePr>
            <a:graphicFrameLocks noGrp="1"/>
          </p:cNvGraphicFramePr>
          <p:nvPr/>
        </p:nvGraphicFramePr>
        <p:xfrm>
          <a:off x="713232" y="1847088"/>
          <a:ext cx="525780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</a:tblGrid>
              <a:tr h="493776"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Geography</a:t>
                      </a:r>
                    </a:p>
                  </a:txBody>
                  <a:tcPr>
                    <a:solidFill>
                      <a:srgbClr val="6D2E46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Q2 FY22 ($M)</a:t>
                      </a:r>
                    </a:p>
                  </a:txBody>
                  <a:tcPr>
                    <a:solidFill>
                      <a:srgbClr val="6D2E46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Share</a:t>
                      </a:r>
                    </a:p>
                  </a:txBody>
                  <a:tcPr>
                    <a:solidFill>
                      <a:srgbClr val="6D2E46"/>
                    </a:solidFill>
                  </a:tcPr>
                </a:tc>
              </a:tr>
              <a:tr h="493776"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United States</a:t>
                      </a:r>
                    </a:p>
                  </a:txBody>
                  <a:tcPr>
                    <a:solidFill>
                      <a:srgbClr val="FFFBF3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515</a:t>
                      </a:r>
                    </a:p>
                  </a:txBody>
                  <a:tcPr>
                    <a:solidFill>
                      <a:srgbClr val="FFFBF3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60%</a:t>
                      </a:r>
                    </a:p>
                  </a:txBody>
                  <a:tcPr>
                    <a:solidFill>
                      <a:srgbClr val="FFFBF3"/>
                    </a:solidFill>
                  </a:tcPr>
                </a:tc>
              </a:tr>
              <a:tr h="493776"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International</a:t>
                      </a:r>
                    </a:p>
                  </a:txBody>
                  <a:tcPr>
                    <a:solidFill>
                      <a:srgbClr val="F7F1E8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343</a:t>
                      </a:r>
                    </a:p>
                  </a:txBody>
                  <a:tcPr>
                    <a:solidFill>
                      <a:srgbClr val="F7F1E8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40%</a:t>
                      </a:r>
                    </a:p>
                  </a:txBody>
                  <a:tcPr>
                    <a:solidFill>
                      <a:srgbClr val="F7F1E8"/>
                    </a:solidFill>
                  </a:tcPr>
                </a:tc>
              </a:tr>
            </a:tbl>
          </a:graphicData>
        </a:graphic>
      </p:graphicFrame>
      <p:sp>
        <p:nvSpPr>
          <p:cNvPr id="8" name="caption_table_q2_channel"/>
          <p:cNvSpPr txBox="1"/>
          <p:nvPr/>
        </p:nvSpPr>
        <p:spPr>
          <a:xfrm>
            <a:off x="6382512" y="1508760"/>
            <a:ext cx="5257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65605D"/>
                </a:solidFill>
                <a:latin typeface="Aptos"/>
              </a:rPr>
              <a:t>Q2 FY2022 net revenue by channel</a:t>
            </a:r>
          </a:p>
        </p:txBody>
      </p:sp>
      <p:graphicFrame>
        <p:nvGraphicFramePr>
          <p:cNvPr id="9" name="table_q2_channel"/>
          <p:cNvGraphicFramePr>
            <a:graphicFrameLocks noGrp="1"/>
          </p:cNvGraphicFramePr>
          <p:nvPr/>
        </p:nvGraphicFramePr>
        <p:xfrm>
          <a:off x="6382512" y="1847088"/>
          <a:ext cx="525780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</a:tblGrid>
              <a:tr h="493776"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Channel</a:t>
                      </a:r>
                    </a:p>
                  </a:txBody>
                  <a:tcPr>
                    <a:solidFill>
                      <a:srgbClr val="6D2E46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Q2 FY22 ($M)</a:t>
                      </a:r>
                    </a:p>
                  </a:txBody>
                  <a:tcPr>
                    <a:solidFill>
                      <a:srgbClr val="6D2E46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FFFFFF"/>
                          </a:solidFill>
                          <a:latin typeface="Aptos"/>
                        </a:rPr>
                        <a:t>Share</a:t>
                      </a:r>
                    </a:p>
                  </a:txBody>
                  <a:tcPr>
                    <a:solidFill>
                      <a:srgbClr val="6D2E46"/>
                    </a:solidFill>
                  </a:tcPr>
                </a:tc>
              </a:tr>
              <a:tr h="493776"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Digital online</a:t>
                      </a:r>
                    </a:p>
                  </a:txBody>
                  <a:tcPr>
                    <a:solidFill>
                      <a:srgbClr val="FFFBF3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779</a:t>
                      </a:r>
                    </a:p>
                  </a:txBody>
                  <a:tcPr>
                    <a:solidFill>
                      <a:srgbClr val="FFFBF3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91%</a:t>
                      </a:r>
                    </a:p>
                  </a:txBody>
                  <a:tcPr>
                    <a:solidFill>
                      <a:srgbClr val="FFFBF3"/>
                    </a:solidFill>
                  </a:tcPr>
                </a:tc>
              </a:tr>
              <a:tr h="493776"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Physical &amp; other</a:t>
                      </a:r>
                    </a:p>
                  </a:txBody>
                  <a:tcPr>
                    <a:solidFill>
                      <a:srgbClr val="F7F1E8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79</a:t>
                      </a:r>
                    </a:p>
                  </a:txBody>
                  <a:tcPr>
                    <a:solidFill>
                      <a:srgbClr val="F7F1E8"/>
                    </a:solidFill>
                  </a:tcPr>
                </a:tc>
                <a:tc>
                  <a:txBody>
                    <a:bodyPr wrap="square" lIns="50800" rIns="50800" tIns="25400" bIns="25400">
                      <a:spAutoFit/>
                    </a:bodyPr>
                    <a:lstStyle/>
                    <a:p>
                      <a:pPr algn="l"/>
                      <a:r>
                        <a:rPr sz="980" b="0">
                          <a:solidFill>
                            <a:srgbClr val="1B1A1F"/>
                          </a:solidFill>
                          <a:latin typeface="Aptos"/>
                        </a:rPr>
                        <a:t>9%</a:t>
                      </a:r>
                    </a:p>
                  </a:txBody>
                  <a:tcPr>
                    <a:solidFill>
                      <a:srgbClr val="F7F1E8"/>
                    </a:solidFill>
                  </a:tcPr>
                </a:tc>
              </a:tr>
            </a:tbl>
          </a:graphicData>
        </a:graphic>
      </p:graphicFrame>
      <p:sp>
        <p:nvSpPr>
          <p:cNvPr id="10" name="body_q2_mix_context"/>
          <p:cNvSpPr txBox="1"/>
          <p:nvPr/>
        </p:nvSpPr>
        <p:spPr>
          <a:xfrm>
            <a:off x="713232" y="3913632"/>
            <a:ext cx="9966960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A1F"/>
                </a:solidFill>
                <a:latin typeface="Aptos"/>
              </a:rPr>
              <a:t/>
            </a:r>
            <a:r>
              <a:rPr sz="1800" b="1">
                <a:solidFill>
                  <a:srgbClr val="1B1A1F"/>
                </a:solidFill>
                <a:latin typeface="Aptos Display"/>
              </a:rPr>
              <a:t>Read-through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Digital reached 91% of quarterly net revenue and 89% of net bookings.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The U.S./international split held near 60/40, consistent with the full-year FY2021 mix.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ivider_motif_vertical_rail"/>
          <p:cNvCxnSpPr/>
          <p:nvPr/>
        </p:nvCxnSpPr>
        <p:spPr>
          <a:xfrm>
            <a:off x="493776" y="1298448"/>
            <a:ext cx="0" cy="4572000"/>
          </a:xfrm>
          <a:prstGeom prst="line">
            <a:avLst/>
          </a:prstGeom>
          <a:ln w="50800">
            <a:solidFill>
              <a:srgbClr val="6D2E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ivider_motif_top_tick"/>
          <p:cNvCxnSpPr/>
          <p:nvPr/>
        </p:nvCxnSpPr>
        <p:spPr>
          <a:xfrm>
            <a:off x="374904" y="1143000"/>
            <a:ext cx="237744" cy="0"/>
          </a:xfrm>
          <a:prstGeom prst="line">
            <a:avLst/>
          </a:prstGeom>
          <a:ln w="5080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"/>
          <p:cNvSpPr txBox="1"/>
          <p:nvPr/>
        </p:nvSpPr>
        <p:spPr>
          <a:xfrm>
            <a:off x="713232" y="411480"/>
            <a:ext cx="10607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>
                <a:solidFill>
                  <a:srgbClr val="1B1A1F"/>
                </a:solidFill>
                <a:latin typeface="Aptos Display"/>
              </a:rPr>
              <a:t>Mobile net revenue nearly doubled, led by Social Point's live-service titles</a:t>
            </a:r>
          </a:p>
        </p:txBody>
      </p:sp>
      <p:sp>
        <p:nvSpPr>
          <p:cNvPr id="5" name="footer_source"/>
          <p:cNvSpPr txBox="1"/>
          <p:nvPr/>
        </p:nvSpPr>
        <p:spPr>
          <a:xfrm>
            <a:off x="713232" y="633679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65605D"/>
                </a:solidFill>
                <a:latin typeface="Aptos"/>
              </a:rPr>
              <a:t>Source: Q2 FY2022 Form 10-Q. Mobile is reported within “PC and other.”</a:t>
            </a:r>
          </a:p>
        </p:txBody>
      </p:sp>
      <p:sp>
        <p:nvSpPr>
          <p:cNvPr id="6" name="caption_chart_mobile_revenue"/>
          <p:cNvSpPr txBox="1"/>
          <p:nvPr/>
        </p:nvSpPr>
        <p:spPr>
          <a:xfrm>
            <a:off x="713232" y="1444752"/>
            <a:ext cx="6537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65605D"/>
                </a:solidFill>
                <a:latin typeface="Aptos"/>
              </a:rPr>
              <a:t>Mobile net revenue, Q2 FY2021 vs Q2 FY2022 ($M)</a:t>
            </a:r>
          </a:p>
        </p:txBody>
      </p:sp>
      <p:graphicFrame>
        <p:nvGraphicFramePr>
          <p:cNvPr id="7" name="chart_mobile_revenue"/>
          <p:cNvGraphicFramePr>
            <a:graphicFrameLocks noGrp="1"/>
          </p:cNvGraphicFramePr>
          <p:nvPr/>
        </p:nvGraphicFramePr>
        <p:xfrm>
          <a:off x="713232" y="1783080"/>
          <a:ext cx="653796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body_mobile_so_what"/>
          <p:cNvSpPr txBox="1"/>
          <p:nvPr/>
        </p:nvSpPr>
        <p:spPr>
          <a:xfrm>
            <a:off x="7726679" y="1947672"/>
            <a:ext cx="3703320" cy="3172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A1F"/>
                </a:solidFill>
                <a:latin typeface="Aptos"/>
              </a:rPr>
              <a:t/>
            </a:r>
            <a:r>
              <a:rPr sz="1800" b="1">
                <a:solidFill>
                  <a:srgbClr val="1B1A1F"/>
                </a:solidFill>
                <a:latin typeface="Aptos Display"/>
              </a:rPr>
              <a:t>Mobile upside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Mobile net revenue grew 89% year over year, the fastest-growing platform in the quarter.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Growth was led by Social Point's live-service mobile portfolio and in-game spending.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1B1A1F"/>
                </a:solidFill>
                <a:latin typeface="Aptos"/>
              </a:rPr>
              <a:t>• Mobile deepens the recurrent-revenue mix and broadens reach beyond console and PC.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71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ivider_motif_vertical_rail"/>
          <p:cNvCxnSpPr/>
          <p:nvPr/>
        </p:nvCxnSpPr>
        <p:spPr>
          <a:xfrm>
            <a:off x="493776" y="1298448"/>
            <a:ext cx="0" cy="4572000"/>
          </a:xfrm>
          <a:prstGeom prst="line">
            <a:avLst/>
          </a:prstGeom>
          <a:ln w="5080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ivider_motif_top_tick"/>
          <p:cNvCxnSpPr/>
          <p:nvPr/>
        </p:nvCxnSpPr>
        <p:spPr>
          <a:xfrm>
            <a:off x="374904" y="1143000"/>
            <a:ext cx="237744" cy="0"/>
          </a:xfrm>
          <a:prstGeom prst="line">
            <a:avLst/>
          </a:prstGeom>
          <a:ln w="50800">
            <a:solidFill>
              <a:srgbClr val="C42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"/>
          <p:cNvSpPr txBox="1"/>
          <p:nvPr/>
        </p:nvSpPr>
        <p:spPr>
          <a:xfrm>
            <a:off x="713232" y="411480"/>
            <a:ext cx="10607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Aptos Display"/>
              </a:rPr>
              <a:t>“We are entering our strongest development pipeline ever.”</a:t>
            </a:r>
          </a:p>
        </p:txBody>
      </p:sp>
      <p:sp>
        <p:nvSpPr>
          <p:cNvPr id="5" name="body_subtitle"/>
          <p:cNvSpPr txBox="1"/>
          <p:nvPr/>
        </p:nvSpPr>
        <p:spPr>
          <a:xfrm>
            <a:off x="713232" y="141732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E9DCCE"/>
                </a:solidFill>
                <a:latin typeface="Aptos"/>
              </a:rPr>
              <a:t>— Strauss Zelnick, Chairman &amp; CEO, on Take-Two's multi-year slate</a:t>
            </a:r>
          </a:p>
        </p:txBody>
      </p:sp>
      <p:sp>
        <p:nvSpPr>
          <p:cNvPr id="6" name="footer_source"/>
          <p:cNvSpPr txBox="1"/>
          <p:nvPr/>
        </p:nvSpPr>
        <p:spPr>
          <a:xfrm>
            <a:off x="713232" y="633679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C8BAAA"/>
                </a:solidFill>
                <a:latin typeface="Aptos"/>
              </a:rPr>
              <a:t>Source: Q2 FY2022 earnings commentary.</a:t>
            </a:r>
          </a:p>
        </p:txBody>
      </p:sp>
      <p:sp>
        <p:nvSpPr>
          <p:cNvPr id="7" name="card_quote_pipeline"/>
          <p:cNvSpPr/>
          <p:nvPr/>
        </p:nvSpPr>
        <p:spPr>
          <a:xfrm>
            <a:off x="713232" y="2880360"/>
            <a:ext cx="2514600" cy="1170432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F2A541"/>
                </a:solidFill>
                <a:latin typeface="Aptos Display"/>
              </a:rPr>
              <a:t>Invest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STRATEGIC POSTURE</a:t>
            </a:r>
          </a:p>
        </p:txBody>
      </p:sp>
      <p:sp>
        <p:nvSpPr>
          <p:cNvPr id="8" name="card_quote_model"/>
          <p:cNvSpPr/>
          <p:nvPr/>
        </p:nvSpPr>
        <p:spPr>
          <a:xfrm>
            <a:off x="3502152" y="2880360"/>
            <a:ext cx="2514600" cy="1170432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5AB89A"/>
                </a:solidFill>
                <a:latin typeface="Aptos Display"/>
              </a:rPr>
              <a:t>Recur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MODEL DEPTH</a:t>
            </a:r>
          </a:p>
        </p:txBody>
      </p:sp>
      <p:sp>
        <p:nvSpPr>
          <p:cNvPr id="9" name="card_quote_slate"/>
          <p:cNvSpPr/>
          <p:nvPr/>
        </p:nvSpPr>
        <p:spPr>
          <a:xfrm>
            <a:off x="6291072" y="2880360"/>
            <a:ext cx="2514600" cy="1170432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C42935"/>
                </a:solidFill>
                <a:latin typeface="Aptos Display"/>
              </a:rPr>
              <a:t>Build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FORWARD SLATE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71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divider_motif_vertical_rail"/>
          <p:cNvCxnSpPr/>
          <p:nvPr/>
        </p:nvCxnSpPr>
        <p:spPr>
          <a:xfrm>
            <a:off x="493776" y="1298448"/>
            <a:ext cx="0" cy="4572000"/>
          </a:xfrm>
          <a:prstGeom prst="line">
            <a:avLst/>
          </a:prstGeom>
          <a:ln w="50800">
            <a:solidFill>
              <a:srgbClr val="F2A5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divider_motif_top_tick"/>
          <p:cNvCxnSpPr/>
          <p:nvPr/>
        </p:nvCxnSpPr>
        <p:spPr>
          <a:xfrm>
            <a:off x="374904" y="1143000"/>
            <a:ext cx="237744" cy="0"/>
          </a:xfrm>
          <a:prstGeom prst="line">
            <a:avLst/>
          </a:prstGeom>
          <a:ln w="50800">
            <a:solidFill>
              <a:srgbClr val="C42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"/>
          <p:cNvSpPr txBox="1"/>
          <p:nvPr/>
        </p:nvSpPr>
        <p:spPr>
          <a:xfrm>
            <a:off x="713232" y="411480"/>
            <a:ext cx="1060704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>
                <a:solidFill>
                  <a:srgbClr val="FFFFFF"/>
                </a:solidFill>
                <a:latin typeface="Aptos Display"/>
              </a:rPr>
              <a:t>A record year and a deliberate investment phase</a:t>
            </a:r>
          </a:p>
        </p:txBody>
      </p:sp>
      <p:sp>
        <p:nvSpPr>
          <p:cNvPr id="5" name="body_subtitle"/>
          <p:cNvSpPr txBox="1"/>
          <p:nvPr/>
        </p:nvSpPr>
        <p:spPr>
          <a:xfrm>
            <a:off x="713232" y="141732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E9DCCE"/>
                </a:solidFill>
                <a:latin typeface="Aptos"/>
              </a:rPr>
              <a:t>Take-Two Interactive Software, Inc. · Nasdaq: TTWO</a:t>
            </a:r>
          </a:p>
        </p:txBody>
      </p:sp>
      <p:sp>
        <p:nvSpPr>
          <p:cNvPr id="6" name="footer_source"/>
          <p:cNvSpPr txBox="1"/>
          <p:nvPr/>
        </p:nvSpPr>
        <p:spPr>
          <a:xfrm>
            <a:off x="713232" y="633679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>
                <a:solidFill>
                  <a:srgbClr val="C8BAAA"/>
                </a:solidFill>
                <a:latin typeface="Aptos"/>
              </a:rPr>
              <a:t>Source: FY2021 10-K; Q2 FY2022 earnings release.</a:t>
            </a:r>
          </a:p>
        </p:txBody>
      </p:sp>
      <p:sp>
        <p:nvSpPr>
          <p:cNvPr id="7" name="body_closing_takeaways"/>
          <p:cNvSpPr txBox="1"/>
          <p:nvPr/>
        </p:nvSpPr>
        <p:spPr>
          <a:xfrm>
            <a:off x="713232" y="2487168"/>
            <a:ext cx="886968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/>
            </a:r>
            <a:r>
              <a:rPr sz="1800" b="1">
                <a:solidFill>
                  <a:srgbClr val="FFFFFF"/>
                </a:solidFill>
                <a:latin typeface="Aptos Display"/>
              </a:rPr>
              <a:t>Takeaway summary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DACEC1"/>
                </a:solidFill>
                <a:latin typeface="Aptos"/>
              </a:rPr>
              <a:t>• FY2021 delivered record revenue ($3.37B), net income ($589M), and margins.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DACEC1"/>
                </a:solidFill>
                <a:latin typeface="Aptos"/>
              </a:rPr>
              <a:t>• The balance sheet — $2.7B in cash and investments, $912M operating cash flow — funds growth internally.</a:t>
            </a:r>
          </a:p>
          <a:p>
            <a:pPr algn="l">
              <a:spcAft>
                <a:spcPts val="500"/>
              </a:spcAft>
            </a:pPr>
            <a:r>
              <a:rPr sz="1420" b="0">
                <a:solidFill>
                  <a:srgbClr val="DACEC1"/>
                </a:solidFill>
                <a:latin typeface="Aptos"/>
              </a:rPr>
              <a:t>• H1 FY2022 reflects deliberate investment ahead of the strongest pipeline in company history.</a:t>
            </a:r>
          </a:p>
        </p:txBody>
      </p:sp>
      <p:sp>
        <p:nvSpPr>
          <p:cNvPr id="8" name="card_closing_core"/>
          <p:cNvSpPr/>
          <p:nvPr/>
        </p:nvSpPr>
        <p:spPr>
          <a:xfrm>
            <a:off x="713232" y="5010912"/>
            <a:ext cx="2514600" cy="877824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F2A541"/>
                </a:solidFill>
                <a:latin typeface="Aptos Display"/>
              </a:rPr>
              <a:t>Own IP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CORE MESSAGE</a:t>
            </a:r>
          </a:p>
        </p:txBody>
      </p:sp>
      <p:sp>
        <p:nvSpPr>
          <p:cNvPr id="9" name="card_closing_recurrent"/>
          <p:cNvSpPr/>
          <p:nvPr/>
        </p:nvSpPr>
        <p:spPr>
          <a:xfrm>
            <a:off x="3502152" y="5010912"/>
            <a:ext cx="2514600" cy="877824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5AB89A"/>
                </a:solidFill>
                <a:latin typeface="Aptos Display"/>
              </a:rPr>
              <a:t>RCS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REVENUE MODEL</a:t>
            </a:r>
          </a:p>
        </p:txBody>
      </p:sp>
      <p:sp>
        <p:nvSpPr>
          <p:cNvPr id="10" name="card_closing_capacity"/>
          <p:cNvSpPr/>
          <p:nvPr/>
        </p:nvSpPr>
        <p:spPr>
          <a:xfrm>
            <a:off x="6291072" y="5010912"/>
            <a:ext cx="2514600" cy="877824"/>
          </a:xfrm>
          <a:prstGeom prst="roundRect">
            <a:avLst/>
          </a:prstGeom>
          <a:solidFill>
            <a:srgbClr val="FFFBF3"/>
          </a:solidFill>
          <a:ln w="12700">
            <a:solidFill>
              <a:srgbClr val="DD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 bIns="101600">
            <a:spAutoFit/>
          </a:bodyPr>
          <a:lstStyle/>
          <a:p>
            <a:pPr algn="ctr"/>
            <a:r>
              <a:rPr sz="2900" b="1">
                <a:solidFill>
                  <a:srgbClr val="C42935"/>
                </a:solidFill>
                <a:latin typeface="Aptos Display"/>
              </a:rPr>
              <a:t>$2.7B</a:t>
            </a:r>
          </a:p>
          <a:p>
            <a:r>
              <a:rPr sz="919" b="1">
                <a:solidFill>
                  <a:srgbClr val="65605D"/>
                </a:solidFill>
                <a:latin typeface="Aptos"/>
              </a:rPr>
              <a:t>FUNDING CAPACITY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