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A5F"/>
              </a:solidFill>
              <a:effectLst/>
            </c:spPr>
          </c:dPt>
          <c:dPt>
            <c:idx val="1"/>
            <c:bubble3D val="0"/>
            <c:spPr>
              <a:solidFill>
                <a:srgbClr val="E2A03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Console</c:v>
                </c:pt>
                <c:pt idx="1">
                  <c:v>PC and 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2517</c:v>
                </c:pt>
                <c:pt idx="1">
                  <c:v>856</c:v>
                </c:pt>
              </c:numCache>
            </c:numRef>
          </c:val>
        </c:ser>
        <c:firstSliceAng val="270"/>
        <c:holeSize val="55"/>
      </c:doughnutChart>
      <c:spPr>
        <a:noFill/>
        <a:ln w="12700" cap="flat">
          <a:solidFill>
            <a:srgbClr val="FFFDF8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188720"/>
            <a:ext cx="4389120" cy="4389120"/>
          </a:xfrm>
          <a:prstGeom prst="ellipse">
            <a:avLst/>
          </a:prstGeom>
          <a:solidFill>
            <a:srgbClr val="0E7A5F">
              <a:alpha val="22000"/>
            </a:srgbClr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148840"/>
            <a:ext cx="1828800" cy="1828800"/>
          </a:xfrm>
          <a:prstGeom prst="ellipse">
            <a:avLst/>
          </a:prstGeom>
          <a:solidFill>
            <a:srgbClr val="E2A03F">
              <a:alpha val="3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8176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3624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754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40" kern="0" dirty="0">
                <a:solidFill>
                  <a:srgbClr val="2C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94360" y="96012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Financial Story of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Take-Two Interactive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D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fiscal 2021 results and the first half of fiscal 2022 — a publisher of owned, iconic franchises (Nasdaq: TTWO)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657600" cy="42062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364992"/>
            <a:ext cx="3337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3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ended March 31, 2021, and six months ended September 30, 2021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897880" y="1115568"/>
            <a:ext cx="2240280" cy="1207008"/>
          </a:xfrm>
          <a:prstGeom prst="roundRect">
            <a:avLst/>
          </a:prstGeom>
          <a:solidFill>
            <a:srgbClr val="FFFFFF">
              <a:alpha val="11000"/>
            </a:srgbClr>
          </a:solidFill>
          <a:ln w="17780">
            <a:solidFill>
              <a:srgbClr val="2CBF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490472"/>
            <a:ext cx="301752" cy="301752"/>
          </a:xfrm>
          <a:prstGeom prst="ellipse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1325880"/>
            <a:ext cx="155448" cy="155448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517904"/>
            <a:ext cx="155448" cy="155448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FY2021 &amp; H1 FY2022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for this overview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475488" y="1161288"/>
            <a:ext cx="3886200" cy="333756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1161288"/>
            <a:ext cx="3886200" cy="310896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23444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covers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1700784"/>
            <a:ext cx="34290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overview summarizes Take-Two's financial performance across revenue, profitability, revenue mix, and capital position.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draws on three lenses: the multi-year growth trend, the FY2021 record year in detail, and the early-FY2022 trajectory.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as reported in SEC filings; net bookings is the company's key operational (non-GAAP) metric and is shown alongside GAAP net revenue.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1161288"/>
            <a:ext cx="3977640" cy="333756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161288"/>
            <a:ext cx="3977640" cy="310896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2344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Take-Two is built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9472" y="1673352"/>
            <a:ext cx="3520440" cy="2404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publishing labels: Rockstar Games, 2K, Private Division, Social Point, and Playdots.</a:t>
            </a:r>
            <a:endParaRPr lang="en-US" sz="980" dirty="0"/>
          </a:p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proprietary franchises, internally owned across action, sports, strategy, and mobile genres.</a:t>
            </a:r>
            <a:endParaRPr lang="en-US" sz="980" dirty="0"/>
          </a:p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Theft Auto is the cornerstone IP — GTA V alone has sold in over 155 million units since launch.</a:t>
            </a:r>
            <a:endParaRPr lang="en-US" sz="980" dirty="0"/>
          </a:p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6,495 full-time employees as of March 31, 2021, with 77% in product development.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965192" y="4005072"/>
            <a:ext cx="347472" cy="347472"/>
          </a:xfrm>
          <a:prstGeom prst="ellipse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94960" y="42611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product development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65392" y="4005072"/>
            <a:ext cx="347472" cy="347472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95160" y="42611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franchises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Take-Two FY2021 Form 10-K; Q2 FY2022 earnings release &amp; Form 10-Q.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2021 set company records across every headline metric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594360" y="1243584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243584"/>
            <a:ext cx="68580" cy="11430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38988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58952" y="16002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$3,373M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679192" y="1243584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1243584"/>
            <a:ext cx="68580" cy="1143000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138988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843784" y="16002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$589M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764024" y="1243584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64024" y="1243584"/>
            <a:ext cx="68580" cy="1143000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38988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EPS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28616" y="16002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$5.09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848856" y="1243584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1243584"/>
            <a:ext cx="68580" cy="1143000"/>
          </a:xfrm>
          <a:prstGeom prst="rect">
            <a:avLst/>
          </a:prstGeom>
          <a:solidFill>
            <a:srgbClr val="D66A3B"/>
          </a:solidFill>
          <a:ln w="12700">
            <a:solidFill>
              <a:srgbClr val="D66A3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3448" y="138988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BOOKINGS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013448" y="16002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$3,553M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04672" y="2816352"/>
            <a:ext cx="7543800" cy="1298448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" y="3063240"/>
            <a:ext cx="69951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rose 9% year over year to a company record $3.37 billion.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grew 46% to $589 million, the highest in company history.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bookings — the forward-looking demand metric — reached $3.55 billion, up 19%.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4224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FY2021: scaled growth + operating leverage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Consolidated Statements of Operations; FY2021 earnings release (Net Bookings).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revenue has grown every year, up 26% over three years to a record $3.4B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594360" y="101498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A76"/>
                </a:solidFill>
              </a:rPr>
              <a:t>Net revenue, fiscal years ended March 31 ($M)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280160"/>
            <a:ext cx="5321808" cy="3154680"/>
          </a:xfrm>
          <a:prstGeom prst="rect">
            <a:avLst/>
          </a:prstGeom>
          <a:solidFill>
            <a:srgbClr val="FFFDF8"/>
          </a:solidFill>
          <a:ln w="6350">
            <a:solidFill>
              <a:srgbClr val="E0D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" y="4014216"/>
            <a:ext cx="4663440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95935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06A76"/>
                </a:solidFill>
              </a:rPr>
              <a:t>0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996696" y="3399282"/>
            <a:ext cx="4663440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34441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06A76"/>
                </a:solidFill>
              </a:rPr>
              <a:t>1000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996696" y="2784348"/>
            <a:ext cx="4663440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72948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06A76"/>
                </a:solidFill>
              </a:rPr>
              <a:t>2000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996696" y="2169414"/>
            <a:ext cx="4663440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11455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06A76"/>
                </a:solidFill>
              </a:rPr>
              <a:t>3000</a:t>
            </a:r>
            <a:endParaRPr lang="en-US" sz="580" dirty="0"/>
          </a:p>
        </p:txBody>
      </p:sp>
      <p:sp>
        <p:nvSpPr>
          <p:cNvPr id="22" name="Shape 20"/>
          <p:cNvSpPr/>
          <p:nvPr/>
        </p:nvSpPr>
        <p:spPr>
          <a:xfrm>
            <a:off x="996696" y="1554480"/>
            <a:ext cx="4663440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1499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06A76"/>
                </a:solidFill>
              </a:rPr>
              <a:t>4000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996696" y="2919633"/>
            <a:ext cx="1165860" cy="-7994"/>
          </a:xfrm>
          <a:prstGeom prst="line">
            <a:avLst/>
          </a:prstGeom>
          <a:noFill/>
          <a:ln w="25400">
            <a:solidFill>
              <a:srgbClr val="0E7A5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62556" y="2911639"/>
            <a:ext cx="1165860" cy="-538067"/>
          </a:xfrm>
          <a:prstGeom prst="line">
            <a:avLst/>
          </a:prstGeom>
          <a:noFill/>
          <a:ln w="25400">
            <a:solidFill>
              <a:srgbClr val="0E7A5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328416" y="2373572"/>
            <a:ext cx="1165860" cy="-258887"/>
          </a:xfrm>
          <a:prstGeom prst="line">
            <a:avLst/>
          </a:prstGeom>
          <a:noFill/>
          <a:ln w="25400">
            <a:solidFill>
              <a:srgbClr val="0E7A5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494276" y="2114685"/>
            <a:ext cx="1165860" cy="-174641"/>
          </a:xfrm>
          <a:prstGeom prst="line">
            <a:avLst/>
          </a:prstGeom>
          <a:noFill/>
          <a:ln w="25400">
            <a:solidFill>
              <a:srgbClr val="0E7A5F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2688" y="2855625"/>
            <a:ext cx="128016" cy="12801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E7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41696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FY17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2098548" y="2847631"/>
            <a:ext cx="128016" cy="12801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E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06524" y="41696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FY18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3264408" y="2309564"/>
            <a:ext cx="128016" cy="12801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E7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72384" y="41696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FY19</a:t>
            </a:r>
            <a:endParaRPr lang="en-US" sz="640" dirty="0"/>
          </a:p>
        </p:txBody>
      </p:sp>
      <p:sp>
        <p:nvSpPr>
          <p:cNvPr id="34" name="Text 32"/>
          <p:cNvSpPr/>
          <p:nvPr/>
        </p:nvSpPr>
        <p:spPr>
          <a:xfrm>
            <a:off x="2980944" y="2090108"/>
            <a:ext cx="694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430"/>
                </a:solidFill>
              </a:rPr>
              <a:t>$2,668M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430268" y="2050677"/>
            <a:ext cx="128016" cy="12801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E7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38244" y="41696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FY20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5596128" y="1876036"/>
            <a:ext cx="128016" cy="12801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E7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04104" y="41696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FY21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5312664" y="1656580"/>
            <a:ext cx="694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430"/>
                </a:solidFill>
              </a:rPr>
              <a:t>$3,373M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190488" y="1280160"/>
            <a:ext cx="2450592" cy="315468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19088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9088" y="1965960"/>
            <a:ext cx="1883664" cy="1938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straight years of top-line expansion, accelerating sharply from FY2019 onward.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FY2021's $3.37B is an all-time high, +9% over FY2020 and +26% over FY2019.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has been driven by the shift to recurrent consumer spending (see next section).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437376" y="3986784"/>
            <a:ext cx="347472" cy="347472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67144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+26%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867144" y="42428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FY2019–FY2021 growth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 (FY2019–FY2021 exact); stockanalysis.com (FY2017–FY2018). Note: net revenue is GAAP; differs from net bookings.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Margins expanded sharply: gross margin reached 54.5% and operating margin 18.7%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594360" y="101498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A76"/>
                </a:solidFill>
              </a:rPr>
              <a:t>Gross margin and operating margin, FY2019–FY2021 (% of net revenue)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280160"/>
            <a:ext cx="5394960" cy="3154680"/>
          </a:xfrm>
          <a:prstGeom prst="rect">
            <a:avLst/>
          </a:prstGeom>
          <a:solidFill>
            <a:srgbClr val="FFFDF8"/>
          </a:solidFill>
          <a:ln w="6350">
            <a:solidFill>
              <a:srgbClr val="E0D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4014216"/>
            <a:ext cx="470001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95935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0%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1051560" y="3412998"/>
            <a:ext cx="470001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35813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15%</a:t>
            </a:r>
            <a:endParaRPr lang="en-US" sz="570" dirty="0"/>
          </a:p>
        </p:txBody>
      </p:sp>
      <p:sp>
        <p:nvSpPr>
          <p:cNvPr id="18" name="Shape 16"/>
          <p:cNvSpPr/>
          <p:nvPr/>
        </p:nvSpPr>
        <p:spPr>
          <a:xfrm>
            <a:off x="1051560" y="2811780"/>
            <a:ext cx="470001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7569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30%</a:t>
            </a:r>
            <a:endParaRPr lang="en-US" sz="570" dirty="0"/>
          </a:p>
        </p:txBody>
      </p:sp>
      <p:sp>
        <p:nvSpPr>
          <p:cNvPr id="20" name="Shape 18"/>
          <p:cNvSpPr/>
          <p:nvPr/>
        </p:nvSpPr>
        <p:spPr>
          <a:xfrm>
            <a:off x="1051560" y="2210562"/>
            <a:ext cx="470001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15569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45%</a:t>
            </a:r>
            <a:endParaRPr lang="en-US" sz="570" dirty="0"/>
          </a:p>
        </p:txBody>
      </p:sp>
      <p:sp>
        <p:nvSpPr>
          <p:cNvPr id="22" name="Shape 20"/>
          <p:cNvSpPr/>
          <p:nvPr/>
        </p:nvSpPr>
        <p:spPr>
          <a:xfrm>
            <a:off x="1051560" y="1609344"/>
            <a:ext cx="470001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155448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60%</a:t>
            </a:r>
            <a:endParaRPr lang="en-US" sz="570" dirty="0"/>
          </a:p>
        </p:txBody>
      </p:sp>
      <p:sp>
        <p:nvSpPr>
          <p:cNvPr id="24" name="Shape 22"/>
          <p:cNvSpPr/>
          <p:nvPr/>
        </p:nvSpPr>
        <p:spPr>
          <a:xfrm>
            <a:off x="1551432" y="2294733"/>
            <a:ext cx="256032" cy="1719483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8280" y="2130141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42.9%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1862328" y="3705591"/>
            <a:ext cx="256032" cy="308625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9176" y="3540999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7.7%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1069848" y="413308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FY2019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3118104" y="2006148"/>
            <a:ext cx="256032" cy="2008068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44952" y="1841556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50.1%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3429000" y="3461095"/>
            <a:ext cx="256032" cy="553121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296503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13.8%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2636520" y="413308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FY2020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4684776" y="1829791"/>
            <a:ext cx="256032" cy="2184425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1624" y="1665199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54.5%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4995672" y="3264698"/>
            <a:ext cx="256032" cy="749518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2520" y="3100106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18.7%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4203192" y="413308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FY2021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1106424" y="1371600"/>
            <a:ext cx="100584" cy="100584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3584" y="13487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06A76"/>
                </a:solidFill>
              </a:rPr>
              <a:t>Gross margin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2249424" y="1371600"/>
            <a:ext cx="100584" cy="10058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86584" y="13487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06A76"/>
                </a:solidFill>
              </a:rPr>
              <a:t>Operating margin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6245352" y="1280160"/>
            <a:ext cx="2395728" cy="315468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55664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leverage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55664" y="1947672"/>
            <a:ext cx="186537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climbed nearly 12 points in two years as higher-margin digital and recurrent revenue grew.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from operations more than tripled, from $207M (FY2019) to $629M (FY2021).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margin reached 17.5% in FY2021, up from 12.5% in FY2019.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Statements of Operations. Margins computed on GAAP net revenue.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Recurrent consumer spending became the majority of revenue, flipping the model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594360" y="101498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A76"/>
                </a:solidFill>
              </a:rPr>
              <a:t>Net revenue by type, FY2020 vs FY2021 ($M)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280160"/>
            <a:ext cx="5440680" cy="3154680"/>
          </a:xfrm>
          <a:prstGeom prst="rect">
            <a:avLst/>
          </a:prstGeom>
          <a:solidFill>
            <a:srgbClr val="FFFDF8"/>
          </a:solidFill>
          <a:ln w="6350">
            <a:solidFill>
              <a:srgbClr val="E0D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4014216"/>
            <a:ext cx="474573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95935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0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1051560" y="3412998"/>
            <a:ext cx="474573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35813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575</a:t>
            </a:r>
            <a:endParaRPr lang="en-US" sz="570" dirty="0"/>
          </a:p>
        </p:txBody>
      </p:sp>
      <p:sp>
        <p:nvSpPr>
          <p:cNvPr id="18" name="Shape 16"/>
          <p:cNvSpPr/>
          <p:nvPr/>
        </p:nvSpPr>
        <p:spPr>
          <a:xfrm>
            <a:off x="1051560" y="2811780"/>
            <a:ext cx="474573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7569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1150</a:t>
            </a:r>
            <a:endParaRPr lang="en-US" sz="570" dirty="0"/>
          </a:p>
        </p:txBody>
      </p:sp>
      <p:sp>
        <p:nvSpPr>
          <p:cNvPr id="20" name="Shape 18"/>
          <p:cNvSpPr/>
          <p:nvPr/>
        </p:nvSpPr>
        <p:spPr>
          <a:xfrm>
            <a:off x="1051560" y="2210562"/>
            <a:ext cx="474573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15569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1725</a:t>
            </a:r>
            <a:endParaRPr lang="en-US" sz="570" dirty="0"/>
          </a:p>
        </p:txBody>
      </p:sp>
      <p:sp>
        <p:nvSpPr>
          <p:cNvPr id="22" name="Shape 20"/>
          <p:cNvSpPr/>
          <p:nvPr/>
        </p:nvSpPr>
        <p:spPr>
          <a:xfrm>
            <a:off x="1051560" y="1609344"/>
            <a:ext cx="4745736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155448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606A76"/>
                </a:solidFill>
              </a:rPr>
              <a:t>2300</a:t>
            </a:r>
            <a:endParaRPr lang="en-US" sz="570" dirty="0"/>
          </a:p>
        </p:txBody>
      </p:sp>
      <p:sp>
        <p:nvSpPr>
          <p:cNvPr id="24" name="Shape 22"/>
          <p:cNvSpPr/>
          <p:nvPr/>
        </p:nvSpPr>
        <p:spPr>
          <a:xfrm>
            <a:off x="1954530" y="2566065"/>
            <a:ext cx="256032" cy="1448151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1378" y="2401473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1,385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2265426" y="1844603"/>
            <a:ext cx="256032" cy="2169613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2274" y="1680011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2,075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1069848" y="4133088"/>
            <a:ext cx="2336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Recurrent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consumer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spending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4327398" y="2232520"/>
            <a:ext cx="256032" cy="1781696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4246" y="206792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1,704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4638294" y="2657032"/>
            <a:ext cx="256032" cy="1357184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65142" y="249244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430"/>
                </a:solidFill>
              </a:rPr>
              <a:t>1,298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3442716" y="4133088"/>
            <a:ext cx="2336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Full game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06A76"/>
                </a:solidFill>
              </a:rPr>
              <a:t>and other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1106424" y="1371600"/>
            <a:ext cx="100584" cy="10058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13487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06A76"/>
                </a:solidFill>
              </a:rPr>
              <a:t>FY2020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2249424" y="1371600"/>
            <a:ext cx="100584" cy="100584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86584" y="13487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06A76"/>
                </a:solidFill>
              </a:rPr>
              <a:t>FY2021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6309360" y="1280160"/>
            <a:ext cx="2331720" cy="315468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19672" y="1554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shift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519672" y="1920240"/>
            <a:ext cx="182880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grew 50% year over year and became the majority of revenue for the first time.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reached 62% of net revenue in FY2021 (and 63% of net bookings), up from 45% a year earlier.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de-risks the model: revenue is increasingly recurring rather than tied to new-title launches.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519672" y="40050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 RCS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439912" y="4041648"/>
            <a:ext cx="-777240" cy="109728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39912" y="4041648"/>
            <a:ext cx="-481889" cy="109728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40142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net revenue by type. RCS = recurrent consumer spending (in-game purchases, virtual currency, add-on content).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overwhelmingly digital and led by the U.S., with 40% from abroad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594360" y="1170432"/>
            <a:ext cx="3749040" cy="1938528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channel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" y="1719072"/>
            <a:ext cx="1371600" cy="310896"/>
          </a:xfrm>
          <a:prstGeom prst="rect">
            <a:avLst/>
          </a:prstGeom>
          <a:solidFill>
            <a:srgbClr val="0E7A5F"/>
          </a:solidFill>
          <a:ln w="3810">
            <a:solidFill>
              <a:srgbClr val="0E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80136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2176272" y="1719072"/>
            <a:ext cx="960120" cy="310896"/>
          </a:xfrm>
          <a:prstGeom prst="rect">
            <a:avLst/>
          </a:prstGeom>
          <a:solidFill>
            <a:srgbClr val="0E7A5F"/>
          </a:solidFill>
          <a:ln w="381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1992" y="180136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 ($M)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3136392" y="1719072"/>
            <a:ext cx="978408" cy="310896"/>
          </a:xfrm>
          <a:prstGeom prst="rect">
            <a:avLst/>
          </a:prstGeom>
          <a:solidFill>
            <a:srgbClr val="0E7A5F"/>
          </a:solidFill>
          <a:ln w="3810">
            <a:solidFill>
              <a:srgbClr val="0E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801368"/>
            <a:ext cx="886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04672" y="2029968"/>
            <a:ext cx="137160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11683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online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176272" y="2029968"/>
            <a:ext cx="96012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11683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2,919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3136392" y="2029968"/>
            <a:ext cx="978408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116836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86.6%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804672" y="2414016"/>
            <a:ext cx="137160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2500884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retail &amp; other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176272" y="2414016"/>
            <a:ext cx="96012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250088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3136392" y="2414016"/>
            <a:ext cx="978408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2500884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4690872" y="1170432"/>
            <a:ext cx="3950208" cy="1938528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01184" y="13716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geography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901184" y="1719072"/>
            <a:ext cx="1051560" cy="310896"/>
          </a:xfrm>
          <a:prstGeom prst="rect">
            <a:avLst/>
          </a:prstGeom>
          <a:solidFill>
            <a:srgbClr val="1A2438"/>
          </a:solidFill>
          <a:ln w="3810">
            <a:solidFill>
              <a:srgbClr val="1A24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180136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952744" y="1719072"/>
            <a:ext cx="822960" cy="310896"/>
          </a:xfrm>
          <a:prstGeom prst="rect">
            <a:avLst/>
          </a:prstGeom>
          <a:solidFill>
            <a:srgbClr val="1A2438"/>
          </a:solidFill>
          <a:ln w="3810">
            <a:solidFill>
              <a:srgbClr val="1A24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98464" y="18013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6775704" y="1719072"/>
            <a:ext cx="822960" cy="310896"/>
          </a:xfrm>
          <a:prstGeom prst="rect">
            <a:avLst/>
          </a:prstGeom>
          <a:solidFill>
            <a:srgbClr val="1A2438"/>
          </a:solidFill>
          <a:ln w="3810">
            <a:solidFill>
              <a:srgbClr val="1A24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18013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7598664" y="1719072"/>
            <a:ext cx="749808" cy="310896"/>
          </a:xfrm>
          <a:prstGeom prst="rect">
            <a:avLst/>
          </a:prstGeom>
          <a:solidFill>
            <a:srgbClr val="1A2438"/>
          </a:solidFill>
          <a:ln w="3810">
            <a:solidFill>
              <a:srgbClr val="1A24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44384" y="180136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4901184" y="2029968"/>
            <a:ext cx="105156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211683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5952744" y="2029968"/>
            <a:ext cx="82296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98464" y="211683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1,776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6775704" y="2029968"/>
            <a:ext cx="82296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21424" y="211683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2,016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7598664" y="2029968"/>
            <a:ext cx="749808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44384" y="2116836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4901184" y="2414016"/>
            <a:ext cx="105156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2500884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5952744" y="2414016"/>
            <a:ext cx="82296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98464" y="250088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1,313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6775704" y="2414016"/>
            <a:ext cx="82296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21424" y="250088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1,357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598664" y="2414016"/>
            <a:ext cx="749808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44384" y="25008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49808" y="3355848"/>
            <a:ext cx="7662672" cy="896112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" y="3575304"/>
            <a:ext cx="71688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delivery reached 86.6% of net revenue (87% of net bookings), up from 63% just two years earlier.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drove growth at +14%; international held 40% of revenue, with Asia ~7% of net bookings — a stated expansion opportunity.</a:t>
            </a:r>
            <a:endParaRPr lang="en-US" sz="940" dirty="0"/>
          </a:p>
        </p:txBody>
      </p:sp>
      <p:sp>
        <p:nvSpPr>
          <p:cNvPr id="60" name="Text 58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net revenue by distribution channel and by geography.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 anchors the business while PC and mobile broaden the base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594360" y="10149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A76"/>
                </a:solidFill>
              </a:rPr>
              <a:t>FY2021 net revenue by platform ($M)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280160"/>
            <a:ext cx="4800600" cy="315468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graphicFrame>
        <p:nvGraphicFramePr>
          <p:cNvPr id="14" name="Chart 0" descr=""/>
          <p:cNvGraphicFramePr/>
          <p:nvPr/>
        </p:nvGraphicFramePr>
        <p:xfrm>
          <a:off x="1005840" y="1572768"/>
          <a:ext cx="2743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1856232" y="23317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892808" y="2670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6A76"/>
                </a:solidFill>
              </a:rPr>
              <a:t>console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6A76"/>
                </a:solidFill>
              </a:rPr>
              <a:t>revenue share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13632" y="1993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33872" y="2029968"/>
            <a:ext cx="-1435608" cy="109728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33872" y="2029968"/>
            <a:ext cx="-1076706" cy="109728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62272" y="20025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913632" y="2423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other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833872" y="2459736"/>
            <a:ext cx="-1435608" cy="109728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33872" y="2459736"/>
            <a:ext cx="-358902" cy="109728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62272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669280" y="1280160"/>
            <a:ext cx="2971800" cy="315468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25312" y="1554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read-through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925312" y="1938528"/>
            <a:ext cx="2267712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delivered 75% of FY2021 net revenue, led by the GTA and NBA 2K franchises.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and other contributed $856M (25%), including a growing mobile and PC-digital base.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Theft Auto products alone represented 29.2% of total net revenue.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925312" y="3986784"/>
            <a:ext cx="347472" cy="347472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5080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29.2%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355080" y="42428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from GTA products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net revenue by platform.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fortress balance sheet: $2.7B in cash and investments funds the pipeline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594360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216152"/>
            <a:ext cx="68580" cy="11430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EQUIVALENTS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58952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$1,423M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679192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1216152"/>
            <a:ext cx="68580" cy="1143000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INVESTMENTS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843784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$1,309M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764024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64024" y="1216152"/>
            <a:ext cx="68580" cy="1143000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28616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$912M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848856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1216152"/>
            <a:ext cx="68580" cy="1143000"/>
          </a:xfrm>
          <a:prstGeom prst="rect">
            <a:avLst/>
          </a:prstGeom>
          <a:solidFill>
            <a:srgbClr val="D66A3B"/>
          </a:solidFill>
          <a:ln w="12700">
            <a:solidFill>
              <a:srgbClr val="D66A3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3448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STOCKHOLDERS' EQUITY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013448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$3,332M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04672" y="2761488"/>
            <a:ext cx="7543800" cy="1298448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" y="2990088"/>
            <a:ext cx="69951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held $2.7 billion in cash and short-term investments at fiscal year-end, against modest liabilities.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 rose 33% to $912 million, funding development of the multi-year slate internally.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were $6.0 billion with $3.3 billion of stockholders' equity — ample capacity for content investment and M&amp;A.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3337560" y="4187952"/>
            <a:ext cx="2423160" cy="310896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4274820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 liquidity war chest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Balance Sheet and Statement of Cash Flows.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188720"/>
            <a:ext cx="4389120" cy="4389120"/>
          </a:xfrm>
          <a:prstGeom prst="ellipse">
            <a:avLst/>
          </a:prstGeom>
          <a:solidFill>
            <a:srgbClr val="0E7A5F">
              <a:alpha val="22000"/>
            </a:srgbClr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148840"/>
            <a:ext cx="1828800" cy="1828800"/>
          </a:xfrm>
          <a:prstGeom prst="ellipse">
            <a:avLst/>
          </a:prstGeom>
          <a:solidFill>
            <a:srgbClr val="E2A03F">
              <a:alpha val="3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8176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3624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960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353312"/>
            <a:ext cx="5303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half of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2022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through a transition year while recurrent spending deepens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rot="2700000">
            <a:off x="6172200" y="1417320"/>
            <a:ext cx="1691640" cy="1691640"/>
          </a:xfrm>
          <a:prstGeom prst="rect">
            <a:avLst/>
          </a:prstGeom>
          <a:solidFill>
            <a:srgbClr val="E2A03F">
              <a:alpha val="92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933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3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FY2022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FY2022 revenue held steady as the company invested for its largest-ever pipeline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594360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216152"/>
            <a:ext cx="68580" cy="11430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NET REVENUE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58952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$858M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679192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1216152"/>
            <a:ext cx="68580" cy="1143000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OPERATING INCOME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843784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$20M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764024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64024" y="1216152"/>
            <a:ext cx="68580" cy="1143000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DILUTED EPS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28616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$0.09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848856" y="1216152"/>
            <a:ext cx="1847088" cy="1143000"/>
          </a:xfrm>
          <a:prstGeom prst="rect">
            <a:avLst/>
          </a:prstGeom>
          <a:solidFill>
            <a:srgbClr val="FFFDF8"/>
          </a:solidFill>
          <a:ln w="6350">
            <a:solidFill>
              <a:srgbClr val="E3DED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1216152"/>
            <a:ext cx="68580" cy="1143000"/>
          </a:xfrm>
          <a:prstGeom prst="rect">
            <a:avLst/>
          </a:prstGeom>
          <a:solidFill>
            <a:srgbClr val="D66A3B"/>
          </a:solidFill>
          <a:ln w="12700">
            <a:solidFill>
              <a:srgbClr val="D66A3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3448" y="13624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NET BOOKINGS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013448" y="157276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$985M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04672" y="2761488"/>
            <a:ext cx="7543800" cy="1353312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" y="2990088"/>
            <a:ext cx="699516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bookings grew 3% to $985M; recurrent consumer spending rose to 69% of net bookings.</a:t>
            </a:r>
            <a:endParaRPr lang="en-US" sz="1020" dirty="0"/>
          </a:p>
          <a:p>
            <a:pPr marL="127000" indent="-127000">
              <a:buSzPct val="100000"/>
              <a:buChar char="•"/>
            </a:pPr>
            <a:r>
              <a:rPr lang="en-US" sz="10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was $20M (down from $115M a year earlier) as Take-Two stepped up investment in development.</a:t>
            </a:r>
            <a:endParaRPr lang="en-US" sz="1020" dirty="0"/>
          </a:p>
          <a:p>
            <a:pPr marL="127000" indent="-127000">
              <a:buSzPct val="100000"/>
              <a:buChar char="•"/>
            </a:pPr>
            <a:r>
              <a:rPr lang="en-US" sz="10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was 46.8%; the quarter reflects a deliberate build-up ahead of a record forward slate.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2788920" y="41696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share of net bookings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4206240"/>
            <a:ext cx="594360" cy="118872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4206240"/>
            <a:ext cx="410108" cy="118872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41788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 FY2022 earnings release and Form 10-Q (quarter ended September 30, 2021).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Q2, digital and recurrent spending deepened across both geography and channel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594360" y="1170432"/>
            <a:ext cx="3749040" cy="1938528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1371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revenue by geography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" y="1719072"/>
            <a:ext cx="1417320" cy="310896"/>
          </a:xfrm>
          <a:prstGeom prst="rect">
            <a:avLst/>
          </a:prstGeom>
          <a:solidFill>
            <a:srgbClr val="0E7A5F"/>
          </a:solidFill>
          <a:ln w="3810">
            <a:solidFill>
              <a:srgbClr val="0E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80136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2221992" y="1719072"/>
            <a:ext cx="1051560" cy="310896"/>
          </a:xfrm>
          <a:prstGeom prst="rect">
            <a:avLst/>
          </a:prstGeom>
          <a:solidFill>
            <a:srgbClr val="0E7A5F"/>
          </a:solidFill>
          <a:ln w="381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180136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FY22 ($M)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3273552" y="1719072"/>
            <a:ext cx="822960" cy="310896"/>
          </a:xfrm>
          <a:prstGeom prst="rect">
            <a:avLst/>
          </a:prstGeom>
          <a:solidFill>
            <a:srgbClr val="0E7A5F"/>
          </a:solidFill>
          <a:ln w="3810">
            <a:solidFill>
              <a:srgbClr val="0E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8013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04672" y="2029968"/>
            <a:ext cx="141732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11683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221992" y="2029968"/>
            <a:ext cx="105156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211683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3273552" y="2029968"/>
            <a:ext cx="82296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211683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804672" y="2414016"/>
            <a:ext cx="141732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250088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221992" y="2414016"/>
            <a:ext cx="105156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7712" y="2500884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3273552" y="2414016"/>
            <a:ext cx="82296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250088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4690872" y="1170432"/>
            <a:ext cx="3950208" cy="1938528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01184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revenue by channel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4901184" y="1719072"/>
            <a:ext cx="1417320" cy="310896"/>
          </a:xfrm>
          <a:prstGeom prst="rect">
            <a:avLst/>
          </a:prstGeom>
          <a:solidFill>
            <a:srgbClr val="1A2438"/>
          </a:solidFill>
          <a:ln w="3810">
            <a:solidFill>
              <a:srgbClr val="1A24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180136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318504" y="1719072"/>
            <a:ext cx="1051560" cy="310896"/>
          </a:xfrm>
          <a:prstGeom prst="rect">
            <a:avLst/>
          </a:prstGeom>
          <a:solidFill>
            <a:srgbClr val="1A2438"/>
          </a:solidFill>
          <a:ln w="3810">
            <a:solidFill>
              <a:srgbClr val="1A24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180136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FY22 ($M)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7370064" y="1719072"/>
            <a:ext cx="822960" cy="310896"/>
          </a:xfrm>
          <a:prstGeom prst="rect">
            <a:avLst/>
          </a:prstGeom>
          <a:solidFill>
            <a:srgbClr val="1A2438"/>
          </a:solidFill>
          <a:ln w="3810">
            <a:solidFill>
              <a:srgbClr val="1A24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15784" y="18013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4901184" y="2029968"/>
            <a:ext cx="141732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211683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online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318504" y="2029968"/>
            <a:ext cx="105156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211683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7370064" y="2029968"/>
            <a:ext cx="822960" cy="384048"/>
          </a:xfrm>
          <a:prstGeom prst="rect">
            <a:avLst/>
          </a:prstGeom>
          <a:solidFill>
            <a:srgbClr val="F4EFE4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15784" y="211683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4901184" y="2414016"/>
            <a:ext cx="141732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250088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other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6318504" y="2414016"/>
            <a:ext cx="105156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2500884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370064" y="2414016"/>
            <a:ext cx="822960" cy="384048"/>
          </a:xfrm>
          <a:prstGeom prst="rect">
            <a:avLst/>
          </a:prstGeom>
          <a:solidFill>
            <a:srgbClr val="FFFDF8"/>
          </a:solidFill>
          <a:ln w="3810">
            <a:solidFill>
              <a:srgbClr val="D7D1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5784" y="250088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749808" y="3355848"/>
            <a:ext cx="7662672" cy="896112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60120" y="3575304"/>
            <a:ext cx="71688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reached 91% of quarterly net revenue (89% of net bookings) — the structural shift continues.</a:t>
            </a:r>
            <a:endParaRPr lang="en-US" sz="960" dirty="0"/>
          </a:p>
          <a:p>
            <a:pPr marL="127000" indent="-127000">
              <a:buSzPct val="100000"/>
              <a:buChar char="•"/>
            </a:pPr>
            <a:r>
              <a:rPr lang="en-US" sz="9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U.S./international split held near 60/40, consistent with the full-year FY2021 mix.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 FY2022 earnings release (quarter ended September 30, 2021).</a:t>
            </a:r>
            <a:endParaRPr lang="en-US" sz="6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66344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40080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13816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61288"/>
            <a:ext cx="54864" cy="54864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35024"/>
            <a:ext cx="54864" cy="54864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FINANCIAL OVERVIEW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5488" y="320040"/>
            <a:ext cx="8183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net revenue nearly doubled, led by Social Point's live-service titles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594360" y="101498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A76"/>
                </a:solidFill>
              </a:rPr>
              <a:t>Mobile net revenue, Q2 FY2021 vs Q2 FY2022 ($M)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280160"/>
            <a:ext cx="4983480" cy="3154680"/>
          </a:xfrm>
          <a:prstGeom prst="rect">
            <a:avLst/>
          </a:prstGeom>
          <a:solidFill>
            <a:srgbClr val="FFFDF8"/>
          </a:solidFill>
          <a:ln w="6350">
            <a:solidFill>
              <a:srgbClr val="E0D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" y="4069080"/>
            <a:ext cx="4215384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" y="3449574"/>
            <a:ext cx="4215384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" y="2830068"/>
            <a:ext cx="4215384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" y="2210562"/>
            <a:ext cx="4215384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8136" y="1591056"/>
            <a:ext cx="4215384" cy="0"/>
          </a:xfrm>
          <a:prstGeom prst="line">
            <a:avLst/>
          </a:prstGeom>
          <a:noFill/>
          <a:ln w="5715">
            <a:solidFill>
              <a:srgbClr val="E7E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2906315"/>
            <a:ext cx="502920" cy="1162765"/>
          </a:xfrm>
          <a:prstGeom prst="rect">
            <a:avLst/>
          </a:prstGeom>
          <a:solidFill>
            <a:srgbClr val="0E7A5F"/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12264" y="2705147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56816" y="4215384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A76"/>
                </a:solidFill>
              </a:rPr>
              <a:t>Q2 FY2021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30752" y="1876982"/>
            <a:ext cx="502920" cy="2192098"/>
          </a:xfrm>
          <a:prstGeom prst="rect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167581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29584" y="4215384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A76"/>
                </a:solidFill>
              </a:rPr>
              <a:t>Q2 FY2022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852160" y="1280160"/>
            <a:ext cx="2788920" cy="3154680"/>
          </a:xfrm>
          <a:prstGeom prst="rect">
            <a:avLst/>
          </a:prstGeom>
          <a:solidFill>
            <a:srgbClr val="FFFDF8"/>
          </a:solidFill>
          <a:ln w="7620">
            <a:solidFill>
              <a:srgbClr val="E5DED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08192" y="1554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flywheel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08192" y="1938528"/>
            <a:ext cx="2075688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1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 revenue grew 89% year over year, the fastest-growing platform in the quarter.</a:t>
            </a:r>
            <a:endParaRPr lang="en-US" sz="910" dirty="0"/>
          </a:p>
          <a:p>
            <a:pPr marL="127000" indent="-127000">
              <a:buSzPct val="100000"/>
              <a:buChar char="•"/>
            </a:pPr>
            <a:r>
              <a:rPr lang="en-US" sz="91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was led by Social Point's live-service mobile portfolio and continued in-game spending.</a:t>
            </a:r>
            <a:endParaRPr lang="en-US" sz="910" dirty="0"/>
          </a:p>
          <a:p>
            <a:pPr marL="127000" indent="-127000">
              <a:buSzPct val="100000"/>
              <a:buChar char="•"/>
            </a:pPr>
            <a:r>
              <a:rPr lang="en-US" sz="91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deepens the recurrent-revenue mix and broadens reach beyond console and PC.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126480" y="4005072"/>
            <a:ext cx="347472" cy="347472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+89%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56248" y="42611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FY2022 YoY growth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5488" y="47823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0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 FY2022 Form 10-Q. Mobile is reported within "PC and other."</a:t>
            </a:r>
            <a:endParaRPr lang="en-US" sz="6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188720"/>
            <a:ext cx="4389120" cy="4389120"/>
          </a:xfrm>
          <a:prstGeom prst="ellipse">
            <a:avLst/>
          </a:prstGeom>
          <a:solidFill>
            <a:srgbClr val="0E7A5F">
              <a:alpha val="22000"/>
            </a:srgbClr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148840"/>
            <a:ext cx="1828800" cy="1828800"/>
          </a:xfrm>
          <a:prstGeom prst="ellipse">
            <a:avLst/>
          </a:prstGeom>
          <a:solidFill>
            <a:srgbClr val="E2A03F">
              <a:alpha val="3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8176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3624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325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are entering our strongest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pipeline ever.”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13232" y="2816352"/>
            <a:ext cx="4480560" cy="438912"/>
          </a:xfrm>
          <a:prstGeom prst="rect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953512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3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Strauss Zelnick, Chairman &amp; CEO, on Take-Two’s multi-year slate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199632" y="45262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spc="130" kern="0" dirty="0">
                <a:solidFill>
                  <a:srgbClr val="2C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STRATEGY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188720"/>
            <a:ext cx="4389120" cy="4389120"/>
          </a:xfrm>
          <a:prstGeom prst="ellipse">
            <a:avLst/>
          </a:prstGeom>
          <a:solidFill>
            <a:srgbClr val="0E7A5F">
              <a:alpha val="22000"/>
            </a:srgbClr>
          </a:solidFill>
          <a:ln w="12700">
            <a:solidFill>
              <a:srgbClr val="0E7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148840"/>
            <a:ext cx="1828800" cy="1828800"/>
          </a:xfrm>
          <a:prstGeom prst="ellipse">
            <a:avLst/>
          </a:prstGeom>
          <a:solidFill>
            <a:srgbClr val="E2A03F">
              <a:alpha val="3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8176" y="4526280"/>
            <a:ext cx="73152" cy="73152"/>
          </a:xfrm>
          <a:prstGeom prst="rect">
            <a:avLst/>
          </a:prstGeom>
          <a:solidFill>
            <a:srgbClr val="E2A03F">
              <a:alpha val="85000"/>
            </a:srgbClr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3624" y="4526280"/>
            <a:ext cx="73152" cy="73152"/>
          </a:xfrm>
          <a:prstGeom prst="rect">
            <a:avLst/>
          </a:prstGeom>
          <a:solidFill>
            <a:srgbClr val="2CBFAE">
              <a:alpha val="85000"/>
            </a:srgbClr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713232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 year and a deliberate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phase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749808" y="1938528"/>
            <a:ext cx="749808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057400"/>
            <a:ext cx="329184" cy="329184"/>
          </a:xfrm>
          <a:prstGeom prst="ellipse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215341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1A2A"/>
                </a:solidFill>
              </a:rPr>
              <a:t>01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389888" y="20391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FY2021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807208" y="203911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D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revenue ($3.37B), net income ($589M), and margins on a model now majority-recurrent.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" y="2715768"/>
            <a:ext cx="749808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834640"/>
            <a:ext cx="329184" cy="329184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9306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1A2A"/>
                </a:solidFill>
              </a:rPr>
              <a:t>02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89888" y="281635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Self-funded growth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807208" y="281635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D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 in cash and investments plus $912M operating cash flow funds growth internally.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" y="3493008"/>
            <a:ext cx="749808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611880"/>
            <a:ext cx="329184" cy="329184"/>
          </a:xfrm>
          <a:prstGeom prst="ellipse">
            <a:avLst/>
          </a:prstGeom>
          <a:solidFill>
            <a:srgbClr val="2CBFAE"/>
          </a:solidFill>
          <a:ln w="12700">
            <a:solidFill>
              <a:srgbClr val="2CBFA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70789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1A2A"/>
                </a:solidFill>
              </a:rPr>
              <a:t>03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389888" y="35935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investment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807208" y="359359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D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FY2022 reflects deliberate investment ahead of the strongest pipeline in company history.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4805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Software, Inc. · Nasdaq: TTWO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594360" y="478231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BF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10-K; Q2 FY2022 earnings release.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Take-Two Interactive — Financial Overview (FY2021 &amp; H1 FY2022)</dc:title>
  <dc:subject>Take-Two Interactive Financial Overview</dc:subject>
  <dc:creator>OpenAI</dc:creator>
  <cp:lastModifiedBy>OpenAI</cp:lastModifiedBy>
  <cp:revision>1</cp:revision>
  <dcterms:created xsi:type="dcterms:W3CDTF">2026-06-26T02:03:13Z</dcterms:created>
  <dcterms:modified xsi:type="dcterms:W3CDTF">2026-06-26T02:03:13Z</dcterms:modified>
</cp:coreProperties>
</file>